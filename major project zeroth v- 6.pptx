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2" r:id="rId1"/>
  </p:sldMasterIdLst>
  <p:notesMasterIdLst>
    <p:notesMasterId r:id="rId21"/>
  </p:notesMasterIdLst>
  <p:sldIdLst>
    <p:sldId id="256" r:id="rId2"/>
    <p:sldId id="258" r:id="rId3"/>
    <p:sldId id="259" r:id="rId4"/>
    <p:sldId id="277" r:id="rId5"/>
    <p:sldId id="268" r:id="rId6"/>
    <p:sldId id="276" r:id="rId7"/>
    <p:sldId id="261" r:id="rId8"/>
    <p:sldId id="281" r:id="rId9"/>
    <p:sldId id="278" r:id="rId10"/>
    <p:sldId id="279" r:id="rId11"/>
    <p:sldId id="280" r:id="rId12"/>
    <p:sldId id="263" r:id="rId13"/>
    <p:sldId id="273" r:id="rId14"/>
    <p:sldId id="274" r:id="rId15"/>
    <p:sldId id="275" r:id="rId16"/>
    <p:sldId id="265" r:id="rId17"/>
    <p:sldId id="266" r:id="rId18"/>
    <p:sldId id="272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489F9B-8D8C-08B6-A8C1-B27C6475A326}" v="245" dt="2025-12-16T14:50:47.219"/>
    <p1510:client id="{29F01F62-5599-4DA3-9AAA-27A4BC7ADD0C}" v="123" dt="2025-12-16T02:24:55.791"/>
    <p1510:client id="{2A33C06B-CD91-94D2-A85B-A8E304E89F79}" v="571" dt="2025-12-16T15:47:10.765"/>
    <p1510:client id="{2A71F656-66BE-8CEF-30D6-40DDE9314982}" v="441" dt="2025-12-16T02:31:22.320"/>
    <p1510:client id="{2B4FF93B-F329-7D26-B59C-FFF9D96A3EC1}" v="1993" dt="2025-12-16T16:45:03.227"/>
    <p1510:client id="{5F7AFD16-1F31-BA05-7CE9-2023B8738F18}" v="11" dt="2025-12-16T16:44:45.023"/>
    <p1510:client id="{D9CD6944-3DA3-EA01-69B1-EE08882F4AD6}" v="101" dt="2025-12-16T14:14:52.7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4FF58-00DF-4DE4-BB64-AE1BFEDEDC2E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48EC5-E2F7-4FD4-A9C7-2386A56B2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105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0D9D-CA2D-4B41-ACE1-238B22F0BA66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93874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7B81-41AB-4130-AFBA-8E17A59B3896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13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F8F4-5304-4176-93C6-27C54EE25751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13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03CD2-1FE9-41EB-BFB9-AD6F8FF47B87}" type="datetime1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44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E3144-F022-4024-8AB7-3AD09A9C8BF6}" type="datetime1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154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928B0-CCFC-4380-B3A5-0AD9A2B89E2C}" type="datetime1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24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82108-5D28-4683-BF41-75892EB4AFB0}" type="datetime1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59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B9FB-B284-4F80-A0DB-1A9805793D30}" type="datetime1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899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0A939-8D68-4C36-9AA9-A0280CE971B2}" type="datetime1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811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EF7BF-195D-4B89-947F-29D948FC57B0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96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ED91D-E801-425D-8405-0DB015C52ED9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595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9D694C-1DA9-46D7-9EE0-99C69AA20E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83491" y="-1283490"/>
            <a:ext cx="6577017" cy="914400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F69BA-5373-435B-BDAF-2455230B8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9F77-DA53-43D7-9593-07DEC79472AF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95FF9-2A26-4421-8A4F-38B8DB4B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Page No</a:t>
            </a:r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20AE23-FA94-4EB2-A039-8FBDE90C3680}"/>
              </a:ext>
            </a:extLst>
          </p:cNvPr>
          <p:cNvSpPr/>
          <p:nvPr userDrawn="1"/>
        </p:nvSpPr>
        <p:spPr>
          <a:xfrm>
            <a:off x="0" y="6492874"/>
            <a:ext cx="9144000" cy="3651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E12F2-F474-4806-8CF0-134B2ADA9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15350" y="6521449"/>
            <a:ext cx="427314" cy="320676"/>
          </a:xfrm>
        </p:spPr>
        <p:txBody>
          <a:bodyPr/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fld id="{1E3669FF-A95B-4CED-B2F5-060587381D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1991E-6F8A-45D8-BE40-76AA928271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786" y="-144454"/>
            <a:ext cx="2325878" cy="164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29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D0D9D-CA2D-4B41-ACE1-238B22F0BA66}" type="datetime1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669FF-A95B-4CED-B2F5-060587381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46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33DF9B-B01A-4D55-8156-78342A557098}"/>
              </a:ext>
            </a:extLst>
          </p:cNvPr>
          <p:cNvSpPr txBox="1"/>
          <p:nvPr/>
        </p:nvSpPr>
        <p:spPr>
          <a:xfrm>
            <a:off x="1505122" y="281087"/>
            <a:ext cx="5768514" cy="58710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sz="2800" b="1">
                <a:solidFill>
                  <a:srgbClr val="0070C0"/>
                </a:solidFill>
                <a:sym typeface="+mn-ea"/>
              </a:rPr>
              <a:t>Project Review-0</a:t>
            </a:r>
          </a:p>
          <a:p>
            <a:pPr lvl="0" algn="ctr">
              <a:lnSpc>
                <a:spcPct val="120000"/>
              </a:lnSpc>
            </a:pPr>
            <a:endParaRPr lang="en-US" sz="100" i="1">
              <a:sym typeface="+mn-ea"/>
            </a:endParaRPr>
          </a:p>
          <a:p>
            <a:pPr lvl="0" algn="ctr">
              <a:lnSpc>
                <a:spcPct val="120000"/>
              </a:lnSpc>
            </a:pPr>
            <a:r>
              <a:rPr lang="en-US" b="1" i="1">
                <a:sym typeface="+mn-ea"/>
              </a:rPr>
              <a:t>On</a:t>
            </a:r>
          </a:p>
          <a:p>
            <a:pPr algn="ctr">
              <a:lnSpc>
                <a:spcPct val="120000"/>
              </a:lnSpc>
            </a:pPr>
            <a:r>
              <a:rPr lang="en-US" sz="320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3200">
                <a:solidFill>
                  <a:srgbClr val="FF0000"/>
                </a:solidFill>
                <a:latin typeface="Times New Roman"/>
                <a:cs typeface="Times New Roman"/>
              </a:rPr>
              <a:t>Uncertainty-Aware Intelligent Structural Health Monitoring Using FBG Sensors and Machine Learning</a:t>
            </a:r>
            <a:r>
              <a:rPr lang="en-US" sz="3200" b="1">
                <a:solidFill>
                  <a:srgbClr val="FF0000"/>
                </a:solidFill>
                <a:latin typeface="Times New Roman"/>
                <a:cs typeface="Times New Roman"/>
              </a:rPr>
              <a:t> </a:t>
            </a:r>
            <a:endParaRPr lang="en-US" sz="3200" b="1">
              <a:solidFill>
                <a:srgbClr val="FF0000"/>
              </a:solidFill>
              <a:latin typeface="Times New Roman"/>
              <a:ea typeface="Calibri"/>
              <a:cs typeface="Times New Roman"/>
            </a:endParaRPr>
          </a:p>
          <a:p>
            <a:pPr lvl="0" algn="ctr">
              <a:lnSpc>
                <a:spcPct val="120000"/>
              </a:lnSpc>
            </a:pPr>
            <a:r>
              <a:rPr lang="en-US" i="1" u="sng">
                <a:sym typeface="Arial" panose="020B0604020202020204"/>
              </a:rPr>
              <a:t>By</a:t>
            </a:r>
            <a:endParaRPr lang="en-US" i="1" u="sng">
              <a:ea typeface="Calibri"/>
              <a:cs typeface="Calibri"/>
            </a:endParaRPr>
          </a:p>
          <a:p>
            <a:pPr lvl="0" algn="ctr">
              <a:lnSpc>
                <a:spcPct val="120000"/>
              </a:lnSpc>
            </a:pPr>
            <a:endParaRPr lang="en-US" i="1" u="sng">
              <a:sym typeface="Arial" panose="020B0604020202020204"/>
            </a:endParaRPr>
          </a:p>
          <a:p>
            <a:pPr lvl="0" algn="ctr">
              <a:lnSpc>
                <a:spcPct val="120000"/>
              </a:lnSpc>
            </a:pPr>
            <a:r>
              <a:rPr lang="en-IN" b="1">
                <a:solidFill>
                  <a:srgbClr val="0070C0"/>
                </a:solidFill>
                <a:sym typeface="+mn-ea"/>
              </a:rPr>
              <a:t>Suryansh Tiwari </a:t>
            </a:r>
            <a:r>
              <a:rPr lang="en-IN" b="1">
                <a:sym typeface="+mn-ea"/>
              </a:rPr>
              <a:t>(</a:t>
            </a:r>
            <a:r>
              <a:rPr lang="en-US" altLang="en-IN" b="1">
                <a:sym typeface="+mn-ea"/>
              </a:rPr>
              <a:t>RA2211004010224</a:t>
            </a:r>
            <a:r>
              <a:rPr lang="en-IN" b="1">
                <a:sym typeface="+mn-ea"/>
              </a:rPr>
              <a:t>)</a:t>
            </a:r>
            <a:br>
              <a:rPr lang="en-US" b="1"/>
            </a:br>
            <a:r>
              <a:rPr lang="en-IN" b="1">
                <a:solidFill>
                  <a:srgbClr val="0070C0"/>
                </a:solidFill>
                <a:sym typeface="+mn-ea"/>
              </a:rPr>
              <a:t>Omkar Patil</a:t>
            </a:r>
            <a:r>
              <a:rPr lang="fi-FI" b="1">
                <a:solidFill>
                  <a:srgbClr val="0070C0"/>
                </a:solidFill>
                <a:sym typeface="+mn-ea"/>
              </a:rPr>
              <a:t> </a:t>
            </a:r>
            <a:r>
              <a:rPr lang="fi-FI" b="1">
                <a:sym typeface="+mn-ea"/>
              </a:rPr>
              <a:t>(</a:t>
            </a:r>
            <a:r>
              <a:rPr lang="en-US" altLang="en-IN" b="1">
                <a:sym typeface="+mn-ea"/>
              </a:rPr>
              <a:t>RA2211004010293</a:t>
            </a:r>
            <a:r>
              <a:rPr lang="fi-FI" b="1">
                <a:sym typeface="+mn-ea"/>
              </a:rPr>
              <a:t>)</a:t>
            </a:r>
            <a:endParaRPr lang="fi-FI" b="1"/>
          </a:p>
          <a:p>
            <a:pPr lvl="0" algn="ctr">
              <a:lnSpc>
                <a:spcPct val="120000"/>
              </a:lnSpc>
            </a:pPr>
            <a:endParaRPr lang="en-US" sz="2000"/>
          </a:p>
          <a:p>
            <a:pPr lvl="0" algn="ctr">
              <a:lnSpc>
                <a:spcPct val="120000"/>
              </a:lnSpc>
            </a:pPr>
            <a:r>
              <a:rPr lang="en-US" sz="1600" i="1">
                <a:sym typeface="+mn-ea"/>
              </a:rPr>
              <a:t>Supervisor Name &amp; Designation</a:t>
            </a:r>
            <a:endParaRPr lang="en-US" sz="1400" i="1">
              <a:sym typeface="+mn-ea"/>
            </a:endParaRPr>
          </a:p>
          <a:p>
            <a:pPr algn="ctr"/>
            <a:r>
              <a:rPr lang="en-US">
                <a:solidFill>
                  <a:srgbClr val="FF0000"/>
                </a:solidFill>
                <a:latin typeface="Times New Roman"/>
                <a:cs typeface="Times New Roman"/>
                <a:sym typeface="+mn-ea"/>
              </a:rPr>
              <a:t>Dr. Sayantani Bhattacharya</a:t>
            </a:r>
            <a:endParaRPr lang="en-US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lvl="0" algn="ctr">
              <a:lnSpc>
                <a:spcPct val="120000"/>
              </a:lnSpc>
            </a:pPr>
            <a:r>
              <a:rPr lang="en-US" sz="1600">
                <a:sym typeface="+mn-ea"/>
              </a:rPr>
              <a:t>Assistant Professor, Department of ECE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10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22001-80BB-4F81-A43E-428580F5F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t>2</a:t>
            </a:fld>
            <a:endParaRPr lang="en-I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AE751E0-2BC0-499D-A6DE-A9D6AF15987A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6400800" cy="6286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FF0000"/>
                </a:solidFill>
              </a:rPr>
              <a:t>Flow of Presentation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E5F6E22-37B3-4FDB-9C6D-F828709B3F38}"/>
              </a:ext>
            </a:extLst>
          </p:cNvPr>
          <p:cNvSpPr txBox="1">
            <a:spLocks/>
          </p:cNvSpPr>
          <p:nvPr/>
        </p:nvSpPr>
        <p:spPr>
          <a:xfrm>
            <a:off x="304800" y="933450"/>
            <a:ext cx="8448675" cy="51530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  </a:t>
            </a:r>
          </a:p>
          <a:p>
            <a:pPr marL="285750" indent="-28575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  </a:t>
            </a:r>
          </a:p>
          <a:p>
            <a:pPr marL="285750" indent="-28575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85750" indent="-28575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</a:t>
            </a:r>
          </a:p>
          <a:p>
            <a:pPr marL="285750" indent="-28575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Design Methodology (Flowchart /Algorithm )</a:t>
            </a:r>
          </a:p>
          <a:p>
            <a:pPr marL="285750" indent="-28575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Software / Hardware Details </a:t>
            </a:r>
          </a:p>
          <a:p>
            <a:pPr marL="285750" indent="-28575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  <a:p>
            <a:pPr marL="285750" indent="-28575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sz="2000">
              <a:latin typeface="Constantia" panose="02030602050306030303" charset="0"/>
              <a:cs typeface="Constantia" panose="0203060205030603030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27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F18FC-C57C-4389-84C6-EFB03D96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t>3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A6F49-B540-134B-C9B6-F5C70FEF46DD}"/>
              </a:ext>
            </a:extLst>
          </p:cNvPr>
          <p:cNvSpPr txBox="1"/>
          <p:nvPr/>
        </p:nvSpPr>
        <p:spPr>
          <a:xfrm>
            <a:off x="1730479" y="636227"/>
            <a:ext cx="503853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E13B7-417B-8132-B02B-67943F88A063}"/>
              </a:ext>
            </a:extLst>
          </p:cNvPr>
          <p:cNvSpPr txBox="1"/>
          <p:nvPr/>
        </p:nvSpPr>
        <p:spPr>
          <a:xfrm>
            <a:off x="200173" y="1272374"/>
            <a:ext cx="8527568" cy="4801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1700" dirty="0">
                <a:latin typeface="Times New Roman"/>
                <a:ea typeface="+mn-lt"/>
                <a:cs typeface="+mn-lt"/>
              </a:rPr>
              <a:t>Fiber Bragg Grating (FBG) sensors are widely used in structural health monitoring due to their high sensitivity, compact size, long-term stability, and immunity to electromagnetic interference  enabling accurate detection of corrosion, leakage, and structural degradation.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700" dirty="0">
                <a:latin typeface="Times New Roman"/>
                <a:ea typeface="+mn-lt"/>
                <a:cs typeface="+mn-lt"/>
              </a:rPr>
              <a:t>Traditional inspection methods are periodic and manual, limiting their ability to detect internal or early-stage damage  lacking continuous monitoring and accurate quantitative assessment of damage severity.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This project uses machine learning to decouple strain and temperature effects in FBG sensors, providing clearer and more reliable structural health assessment than recent studies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>
              <a:latin typeface="Times New Roman"/>
              <a:ea typeface="+mn-lt"/>
              <a:cs typeface="Times New Roman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ea typeface="+mn-lt"/>
                <a:cs typeface="+mn-lt"/>
              </a:rPr>
              <a:t>Physics-informed machine learning with uncertainty-aware analysis ensures damage detection aligns with structural behavior while accounting for sensor noise and environmental variations, resulting in robust, interpretable, and reliable predictions under real-world conditions.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ea typeface="Calibri" panose="020F0502020204030204"/>
                <a:cs typeface="Times New Roman"/>
              </a:rPr>
              <a:t>In real-world bridge operations, the proposed system enables real-time impact detection, temperature-compensated load monitoring, and early damage warning,   </a:t>
            </a:r>
          </a:p>
        </p:txBody>
      </p:sp>
    </p:spTree>
    <p:extLst>
      <p:ext uri="{BB962C8B-B14F-4D97-AF65-F5344CB8AC3E}">
        <p14:creationId xmlns:p14="http://schemas.microsoft.com/office/powerpoint/2010/main" val="1250906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DD8F58-79B9-C3CF-A419-DC566EB9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4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A78EED-972E-7BE8-B249-7EEA79D30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699460"/>
              </p:ext>
            </p:extLst>
          </p:nvPr>
        </p:nvGraphicFramePr>
        <p:xfrm>
          <a:off x="238428" y="1523544"/>
          <a:ext cx="8656102" cy="4198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4078865685"/>
                    </a:ext>
                  </a:extLst>
                </a:gridCol>
                <a:gridCol w="1617804">
                  <a:extLst>
                    <a:ext uri="{9D8B030D-6E8A-4147-A177-3AD203B41FA5}">
                      <a16:colId xmlns:a16="http://schemas.microsoft.com/office/drawing/2014/main" val="1016098439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552563315"/>
                    </a:ext>
                  </a:extLst>
                </a:gridCol>
                <a:gridCol w="2795482">
                  <a:extLst>
                    <a:ext uri="{9D8B030D-6E8A-4147-A177-3AD203B41FA5}">
                      <a16:colId xmlns:a16="http://schemas.microsoft.com/office/drawing/2014/main" val="690477319"/>
                    </a:ext>
                  </a:extLst>
                </a:gridCol>
              </a:tblGrid>
              <a:tr h="647891">
                <a:tc>
                  <a:txBody>
                    <a:bodyPr/>
                    <a:lstStyle/>
                    <a:p>
                      <a:pPr algn="ctr"/>
                      <a:r>
                        <a:rPr lang="en-US" sz="1700" b="0">
                          <a:latin typeface="Times New Roman"/>
                        </a:rPr>
                        <a:t>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700" b="0" i="0" u="none" strike="noStrike" noProof="0">
                          <a:latin typeface="Times New Roman"/>
                        </a:rPr>
                        <a:t>Author Details</a:t>
                      </a:r>
                      <a:endParaRPr lang="en-US" sz="1700" b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700" b="0" i="0" u="none" strike="noStrike" noProof="0" dirty="0">
                          <a:latin typeface="Times New Roman"/>
                        </a:rPr>
                        <a:t>Publication and year</a:t>
                      </a:r>
                      <a:endParaRPr lang="en-US" sz="1700" b="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700" b="0" i="0" u="none" strike="noStrike" noProof="0">
                          <a:latin typeface="Times New Roman"/>
                        </a:rPr>
                        <a:t>Inferences</a:t>
                      </a:r>
                      <a:endParaRPr lang="en-US" sz="170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80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700" b="0" i="0" u="none" strike="noStrike" noProof="0" dirty="0">
                          <a:latin typeface="Times New Roman"/>
                        </a:rPr>
                        <a:t>Fiber Bragg Grating (FBG)-Based Sensors: A Review of Technology and Recent Applications in Structural Health Monitoring (SHM) of Civil Engineering Structures</a:t>
                      </a:r>
                      <a:endParaRPr lang="en-US" sz="1700" b="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i="0" u="none" strike="noStrike" noProof="0">
                          <a:latin typeface="Times New Roman"/>
                        </a:rPr>
                        <a:t>MH Yassin, MHFarhat, </a:t>
                      </a:r>
                      <a:endParaRPr lang="en-US" sz="1700" b="1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i="0" u="none" strike="noStrike" noProof="0">
                          <a:latin typeface="Times New Roman"/>
                        </a:rPr>
                        <a:t>R soleimanpour</a:t>
                      </a:r>
                      <a:endParaRPr lang="en-US" sz="1700" b="1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700" b="0" i="0" u="none" strike="noStrike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2024,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Discovery Civil Engineering Journal 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7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The paper emphasizes real-time structural health monitoring and its importance for safe, reliable, and cost-effective infrastructure maintenance.</a:t>
                      </a:r>
                      <a:endParaRPr lang="en-US" sz="170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09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7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Fiber Bragg Grating Smart Material and </a:t>
                      </a:r>
                      <a:r>
                        <a:rPr lang="en-US" sz="17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StructuralHealth</a:t>
                      </a:r>
                      <a:r>
                        <a:rPr lang="en-US" sz="17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7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MonitoringSystem</a:t>
                      </a:r>
                      <a:r>
                        <a:rPr lang="en-US" sz="17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Based on Digital Twin Drive</a:t>
                      </a:r>
                      <a:endParaRPr lang="en-US" sz="1700" b="0" dirty="0">
                        <a:latin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US" sz="1700" b="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700" b="1" i="0" u="none" strike="noStrike" noProof="0">
                          <a:latin typeface="Times New Roman"/>
                        </a:rPr>
                        <a:t>Zhen Lei, Liang Zhu, Youliang Fang, Chunjie Niu, Yunpeng Zhao</a:t>
                      </a:r>
                      <a:endParaRPr lang="en-US" sz="1700" b="1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7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25 July 2022 ,</a:t>
                      </a:r>
                      <a:r>
                        <a:rPr lang="en-US" sz="1700" b="0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Hindawi</a:t>
                      </a:r>
                      <a:r>
                        <a:rPr lang="en-US" sz="17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Journal of Nanomaterials Volume 2022, Article ID 4356974,</a:t>
                      </a:r>
                      <a:endParaRPr lang="en-US" sz="170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7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The study demonstrates that integrating FBG sensors with a digital twin and machine learning enables real-time load identification and reliable bridge health assessment.</a:t>
                      </a:r>
                      <a:endParaRPr lang="en-US" sz="1700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49306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18D825B-8B24-F3F1-BE6A-B3E01FA73E00}"/>
              </a:ext>
            </a:extLst>
          </p:cNvPr>
          <p:cNvSpPr txBox="1"/>
          <p:nvPr/>
        </p:nvSpPr>
        <p:spPr>
          <a:xfrm>
            <a:off x="3183309" y="470019"/>
            <a:ext cx="27667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1600" b="1" baseline="0" dirty="0">
                <a:solidFill>
                  <a:srgbClr val="FF0000"/>
                </a:solidFill>
                <a:latin typeface="Times New Roman"/>
                <a:cs typeface="Times New Roman"/>
              </a:rPr>
              <a:t>LITERATURE SURVEY</a:t>
            </a:r>
            <a:r>
              <a:rPr sz="1800" b="1" dirty="0">
                <a:latin typeface="Times New Roman"/>
                <a:ea typeface="Calibri"/>
                <a:cs typeface="Times New Roman"/>
              </a:rPr>
              <a:t>​</a:t>
            </a:r>
            <a:endParaRPr lang="en-US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2129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EEC40-CB4C-D1B7-AF43-36BD6CC9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8546" y="6383529"/>
            <a:ext cx="427314" cy="320676"/>
          </a:xfrm>
        </p:spPr>
        <p:txBody>
          <a:bodyPr/>
          <a:lstStyle/>
          <a:p>
            <a:fld id="{1E3669FF-A95B-4CED-B2F5-060587381DD8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ECAA1-7037-7B05-3B75-DAF810BBFC31}"/>
              </a:ext>
            </a:extLst>
          </p:cNvPr>
          <p:cNvSpPr txBox="1"/>
          <p:nvPr/>
        </p:nvSpPr>
        <p:spPr>
          <a:xfrm>
            <a:off x="1582887" y="300860"/>
            <a:ext cx="470262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LITERATURE SURVEY</a:t>
            </a:r>
            <a:endParaRPr lang="en-IN" sz="1600" b="1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FD3059-C8C4-426D-1D8F-5A368AC88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10841"/>
              </p:ext>
            </p:extLst>
          </p:nvPr>
        </p:nvGraphicFramePr>
        <p:xfrm>
          <a:off x="153429" y="1101220"/>
          <a:ext cx="8837142" cy="545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9930">
                  <a:extLst>
                    <a:ext uri="{9D8B030D-6E8A-4147-A177-3AD203B41FA5}">
                      <a16:colId xmlns:a16="http://schemas.microsoft.com/office/drawing/2014/main" val="4211377789"/>
                    </a:ext>
                  </a:extLst>
                </a:gridCol>
                <a:gridCol w="1516341">
                  <a:extLst>
                    <a:ext uri="{9D8B030D-6E8A-4147-A177-3AD203B41FA5}">
                      <a16:colId xmlns:a16="http://schemas.microsoft.com/office/drawing/2014/main" val="355109785"/>
                    </a:ext>
                  </a:extLst>
                </a:gridCol>
                <a:gridCol w="1215291">
                  <a:extLst>
                    <a:ext uri="{9D8B030D-6E8A-4147-A177-3AD203B41FA5}">
                      <a16:colId xmlns:a16="http://schemas.microsoft.com/office/drawing/2014/main" val="4187794420"/>
                    </a:ext>
                  </a:extLst>
                </a:gridCol>
                <a:gridCol w="3665580">
                  <a:extLst>
                    <a:ext uri="{9D8B030D-6E8A-4147-A177-3AD203B41FA5}">
                      <a16:colId xmlns:a16="http://schemas.microsoft.com/office/drawing/2014/main" val="3770077103"/>
                    </a:ext>
                  </a:extLst>
                </a:gridCol>
              </a:tblGrid>
              <a:tr h="552688">
                <a:tc>
                  <a:txBody>
                    <a:bodyPr/>
                    <a:lstStyle/>
                    <a:p>
                      <a:pPr algn="ctr"/>
                      <a:r>
                        <a:rPr lang="en-IN" sz="1700">
                          <a:latin typeface="Times New Roman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>
                          <a:latin typeface="Times New Roman"/>
                        </a:rPr>
                        <a:t>Paper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>
                          <a:latin typeface="Times New Roman"/>
                        </a:rPr>
                        <a:t>Publication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>
                          <a:latin typeface="Times New Roman"/>
                        </a:rPr>
                        <a:t>Inferences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701827"/>
                  </a:ext>
                </a:extLst>
              </a:tr>
              <a:tr h="1940834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Times New Roman"/>
                          <a:cs typeface="Times New Roman"/>
                        </a:rPr>
                        <a:t>Machine learning-augmented multi-arrayed fiber </a:t>
                      </a:r>
                      <a:r>
                        <a:rPr lang="en-US" sz="1700" b="0" i="0" u="none" strike="noStrike" kern="1200" noProof="0" dirty="0" err="1">
                          <a:solidFill>
                            <a:schemeClr val="dk1"/>
                          </a:solidFill>
                          <a:effectLst/>
                          <a:latin typeface="Times New Roman"/>
                          <a:cs typeface="Times New Roman"/>
                        </a:rPr>
                        <a:t>bragg</a:t>
                      </a:r>
                      <a:r>
                        <a:rPr lang="en-US" sz="17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Times New Roman"/>
                          <a:cs typeface="Times New Roman"/>
                        </a:rPr>
                        <a:t> grating sensors for enhanced structural health monitoring by discriminating strain and temperature variations</a:t>
                      </a:r>
                    </a:p>
                    <a:p>
                      <a:pPr algn="l"/>
                      <a:endParaRPr lang="en-IN" sz="1700" b="0" i="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S.Saha,S.A.Hadigheh,I.Rukhlenko, M. Valix, B. Uy &amp; S. Fleming</a:t>
                      </a:r>
                      <a:endParaRPr lang="en-IN" sz="1700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 July 2024 Springer</a:t>
                      </a:r>
                    </a:p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of Civil Structural Health Monitoring </a:t>
                      </a:r>
                      <a:endParaRPr lang="en-US" sz="17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0" i="0" u="none" strike="noStrike" noProof="0">
                          <a:latin typeface="Times New Roman"/>
                        </a:rPr>
                        <a:t>The study shows that machine-learning-enhanced multi-array FBG sensors accurately separate strain and temperature effects, enabling reliable and cost-effective long-term structural health monitoring.</a:t>
                      </a:r>
                      <a:endParaRPr lang="en-US" sz="1700">
                        <a:latin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US" sz="1700" b="0" i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164567"/>
                  </a:ext>
                </a:extLst>
              </a:tr>
              <a:tr h="2172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700" b="0" i="0" dirty="0">
                          <a:latin typeface="Times New Roman"/>
                          <a:cs typeface="Times New Roman"/>
                        </a:rPr>
                        <a:t>Sensing Techniques for </a:t>
                      </a:r>
                      <a:r>
                        <a:rPr lang="en-US" sz="1700" b="0" i="0" dirty="0" err="1">
                          <a:latin typeface="Times New Roman"/>
                          <a:cs typeface="Times New Roman"/>
                        </a:rPr>
                        <a:t>StructuralHealth</a:t>
                      </a:r>
                      <a:r>
                        <a:rPr lang="en-US" sz="1700" b="0" i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700" b="0" i="0" dirty="0" err="1">
                          <a:latin typeface="Times New Roman"/>
                          <a:cs typeface="Times New Roman"/>
                        </a:rPr>
                        <a:t>Monitoring:AState-of-the-Art</a:t>
                      </a:r>
                      <a:r>
                        <a:rPr lang="en-US" sz="1700" b="0" i="0" dirty="0">
                          <a:latin typeface="Times New Roman"/>
                          <a:cs typeface="Times New Roman"/>
                        </a:rPr>
                        <a:t> Review on Performance Criteria and New-Generation Technologies</a:t>
                      </a:r>
                      <a:endParaRPr lang="en-IN" sz="1700" b="0" i="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 </a:t>
                      </a:r>
                      <a:r>
                        <a:rPr lang="en-IN" sz="1700" b="1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Mardanshahi</a:t>
                      </a:r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IN" sz="1700" b="1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Sreekumar,Xin</a:t>
                      </a:r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Yang ,Swarup Kumar Barman and Dimitrios Chronopoulos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 February 2025</a:t>
                      </a:r>
                    </a:p>
                    <a:p>
                      <a:pPr algn="l"/>
                      <a:r>
                        <a:rPr lang="en-IN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MDPI conference on Sensors , MDPI Sensor 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noProof="0" dirty="0">
                          <a:latin typeface="Times New Roman"/>
                        </a:rPr>
                        <a:t>The study highlights that advanced sensing technologies, particularly FBG systems integrated with machine learning and digital twins, are essential for reliable real-time monitoring and intelligent infrastructure management.</a:t>
                      </a:r>
                      <a:endParaRPr lang="en-US" sz="1700" u="none" strike="noStrike" noProof="0" dirty="0">
                        <a:latin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US" sz="1700" b="0" i="0" dirty="0">
                        <a:latin typeface="Times New Roman"/>
                        <a:cs typeface="Times New Roman"/>
                      </a:endParaRPr>
                    </a:p>
                    <a:p>
                      <a:pPr algn="l"/>
                      <a:endParaRPr lang="en-US" sz="1700" dirty="0">
                        <a:latin typeface="Times New Roman"/>
                      </a:endParaRPr>
                    </a:p>
                    <a:p>
                      <a:pPr algn="l"/>
                      <a:endParaRPr lang="en-IN" sz="1700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702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3983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BA8543-25A8-3B93-1AFF-3E1978C1D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6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8DA640-103C-966E-F4B9-B7EF17E27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793852"/>
              </p:ext>
            </p:extLst>
          </p:nvPr>
        </p:nvGraphicFramePr>
        <p:xfrm>
          <a:off x="243954" y="1826424"/>
          <a:ext cx="8656091" cy="26742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165308624"/>
                    </a:ext>
                  </a:extLst>
                </a:gridCol>
                <a:gridCol w="1667970">
                  <a:extLst>
                    <a:ext uri="{9D8B030D-6E8A-4147-A177-3AD203B41FA5}">
                      <a16:colId xmlns:a16="http://schemas.microsoft.com/office/drawing/2014/main" val="1396815574"/>
                    </a:ext>
                  </a:extLst>
                </a:gridCol>
                <a:gridCol w="1322937">
                  <a:extLst>
                    <a:ext uri="{9D8B030D-6E8A-4147-A177-3AD203B41FA5}">
                      <a16:colId xmlns:a16="http://schemas.microsoft.com/office/drawing/2014/main" val="2186415222"/>
                    </a:ext>
                  </a:extLst>
                </a:gridCol>
                <a:gridCol w="2921984">
                  <a:extLst>
                    <a:ext uri="{9D8B030D-6E8A-4147-A177-3AD203B41FA5}">
                      <a16:colId xmlns:a16="http://schemas.microsoft.com/office/drawing/2014/main" val="60008464"/>
                    </a:ext>
                  </a:extLst>
                </a:gridCol>
              </a:tblGrid>
              <a:tr h="64789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700">
                          <a:latin typeface="Times New Roman"/>
                        </a:rPr>
                        <a:t>Title </a:t>
                      </a:r>
                    </a:p>
                  </a:txBody>
                  <a:tcPr marL="63179" marR="63179" marT="31585" marB="3158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700">
                          <a:latin typeface="Times New Roman"/>
                        </a:rPr>
                        <a:t>Author Details</a:t>
                      </a:r>
                    </a:p>
                  </a:txBody>
                  <a:tcPr marL="63179" marR="63179" marT="31585" marB="3158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700">
                          <a:latin typeface="Times New Roman"/>
                        </a:rPr>
                        <a:t>Publication and year</a:t>
                      </a:r>
                    </a:p>
                  </a:txBody>
                  <a:tcPr marL="63179" marR="63179" marT="31585" marB="3158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700">
                          <a:latin typeface="Times New Roman"/>
                        </a:rPr>
                        <a:t>Inferences</a:t>
                      </a:r>
                    </a:p>
                  </a:txBody>
                  <a:tcPr marL="63179" marR="63179" marT="31585" marB="3158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50546"/>
                  </a:ext>
                </a:extLst>
              </a:tr>
              <a:tr h="202638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latin typeface="Times New Roman"/>
                        </a:rPr>
                        <a:t>SHM  data anomaly classification using machine learning strategies:</a:t>
                      </a:r>
                    </a:p>
                  </a:txBody>
                  <a:tcPr marL="63179" marR="63179" marT="31585" marB="3158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US" sz="1700" b="1">
                          <a:latin typeface="Times New Roman"/>
                        </a:rPr>
                        <a:t>Jau-Yu Chou 1a, Yuguang Fu , Shieh-Kung Huang and Chia-Ming Chang </a:t>
                      </a:r>
                    </a:p>
                  </a:txBody>
                  <a:tcPr marL="63179" marR="63179" marT="31585" marB="3158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August, 2021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Structures and Systems Journal, Vol. 29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79" marR="63179" marT="31585" marB="3158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r>
                        <a:rPr lang="en-US" sz="1700" dirty="0">
                          <a:latin typeface="Times New Roman"/>
                        </a:rPr>
                        <a:t>The study shows that machine learning and ensemble neural networks enable reliable automated detection and classification of anomalies in long-term structural monitoring data.</a:t>
                      </a:r>
                    </a:p>
                  </a:txBody>
                  <a:tcPr marL="63179" marR="63179" marT="31585" marB="3158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979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6F174DD-7E45-A285-55A4-AA809A717246}"/>
              </a:ext>
            </a:extLst>
          </p:cNvPr>
          <p:cNvSpPr txBox="1"/>
          <p:nvPr/>
        </p:nvSpPr>
        <p:spPr>
          <a:xfrm>
            <a:off x="3258085" y="630253"/>
            <a:ext cx="282011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600" b="1" baseline="0" dirty="0">
                <a:solidFill>
                  <a:srgbClr val="FF0000"/>
                </a:solidFill>
                <a:latin typeface="Times New Roman"/>
                <a:cs typeface="Times New Roman"/>
              </a:rPr>
              <a:t>LITERATURE </a:t>
            </a:r>
            <a:r>
              <a:rPr lang="en-IN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SURVEY</a:t>
            </a:r>
            <a:r>
              <a:rPr lang="en-IN" sz="1600" dirty="0">
                <a:latin typeface="Times New Roman"/>
                <a:ea typeface="Calibri"/>
                <a:cs typeface="Calibri"/>
              </a:rPr>
              <a:t>​</a:t>
            </a:r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38311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A5439E-73C0-ECE5-1F77-229D9870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0EB49-E891-F00B-F4DE-48EADC1725D8}"/>
              </a:ext>
            </a:extLst>
          </p:cNvPr>
          <p:cNvSpPr txBox="1"/>
          <p:nvPr/>
        </p:nvSpPr>
        <p:spPr>
          <a:xfrm>
            <a:off x="1352939" y="671804"/>
            <a:ext cx="530911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15FFE3-7838-25CF-3AF5-82302FC2CFCE}"/>
              </a:ext>
            </a:extLst>
          </p:cNvPr>
          <p:cNvSpPr txBox="1"/>
          <p:nvPr/>
        </p:nvSpPr>
        <p:spPr>
          <a:xfrm>
            <a:off x="541176" y="1474237"/>
            <a:ext cx="7800391" cy="50937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1700" dirty="0">
                <a:latin typeface="Times New Roman"/>
                <a:ea typeface="+mn-lt"/>
                <a:cs typeface="+mn-lt"/>
              </a:rPr>
              <a:t>Modern infrastructure is exposed to variable loads, environmental conditions, and material aging, which </a:t>
            </a:r>
            <a:r>
              <a:rPr lang="en-US" sz="1700" b="1" dirty="0">
                <a:latin typeface="Times New Roman"/>
                <a:ea typeface="+mn-lt"/>
                <a:cs typeface="+mn-lt"/>
              </a:rPr>
              <a:t>gradually introduce internal damage such as micro-cracks and strain concentration that are difficult to observe externally.</a:t>
            </a:r>
            <a:endParaRPr lang="en-US" sz="1700" b="1" dirty="0">
              <a:latin typeface="Times New Roman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endParaRPr lang="en-US" sz="1700" b="1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700" dirty="0">
                <a:latin typeface="Times New Roman"/>
                <a:ea typeface="+mn-lt"/>
                <a:cs typeface="+mn-lt"/>
              </a:rPr>
              <a:t>These defects often remain </a:t>
            </a:r>
            <a:r>
              <a:rPr lang="en-US" sz="1700" b="1" dirty="0">
                <a:latin typeface="Times New Roman"/>
                <a:ea typeface="+mn-lt"/>
                <a:cs typeface="+mn-lt"/>
              </a:rPr>
              <a:t>undetected</a:t>
            </a:r>
            <a:r>
              <a:rPr lang="en-US" sz="1700" dirty="0">
                <a:latin typeface="Times New Roman"/>
                <a:ea typeface="+mn-lt"/>
                <a:cs typeface="+mn-lt"/>
              </a:rPr>
              <a:t> because conventional inspection methods are periodic and manual, relying on traditional sensors with limited sensitivity and real-time monitoring capability.</a:t>
            </a:r>
            <a:endParaRPr lang="en-US" sz="1700" dirty="0">
              <a:latin typeface="Times New Roman"/>
              <a:ea typeface="Calibri"/>
              <a:cs typeface="Calibri"/>
            </a:endParaRPr>
          </a:p>
          <a:p>
            <a:pPr algn="just"/>
            <a:endParaRPr lang="en-US" sz="1700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models are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reliably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progressive damage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under complex loading conditions.</a:t>
            </a:r>
          </a:p>
          <a:p>
            <a:pPr marL="285750" indent="-285750" algn="just">
              <a:buFont typeface="Arial"/>
              <a:buChar char="•"/>
            </a:pPr>
            <a:endParaRPr lang="en-US" sz="17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coupled influence of temperature and strain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sensor measurements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structural health monitoring, necessitating AI-based methods for reliable and robust decoupling under varying conditions.</a:t>
            </a:r>
          </a:p>
          <a:p>
            <a:pPr marL="285750" indent="-285750" algn="just">
              <a:buFont typeface="Arial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structural health monitoring approaches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effective mechanisms to quantify and manage uncertainties,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leading to unreliable decision-making.</a:t>
            </a:r>
            <a:endParaRPr lang="en-US" sz="17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en-US" sz="1700" dirty="0">
              <a:latin typeface="Times New Roman"/>
              <a:ea typeface="Calibri" panose="020F0502020204030204"/>
              <a:cs typeface="Times New Roman"/>
            </a:endParaRPr>
          </a:p>
          <a:p>
            <a:pPr algn="just"/>
            <a:endParaRPr lang="en-IN" sz="1700" dirty="0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37162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9F7E85-2AA7-4F40-C5CF-C7720F6B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CEF9E-A946-0D67-55F3-E6D73F9CA546}"/>
              </a:ext>
            </a:extLst>
          </p:cNvPr>
          <p:cNvSpPr txBox="1"/>
          <p:nvPr/>
        </p:nvSpPr>
        <p:spPr>
          <a:xfrm>
            <a:off x="3990886" y="442884"/>
            <a:ext cx="1162228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Novelty</a:t>
            </a:r>
            <a:r>
              <a:rPr lang="en-US" dirty="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 </a:t>
            </a:r>
            <a:endParaRPr lang="en-US" dirty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D401A-EF1C-20F2-CF11-4C5B3F1F8FDE}"/>
              </a:ext>
            </a:extLst>
          </p:cNvPr>
          <p:cNvSpPr txBox="1"/>
          <p:nvPr/>
        </p:nvSpPr>
        <p:spPr>
          <a:xfrm>
            <a:off x="201336" y="1009812"/>
            <a:ext cx="8524429" cy="64633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/>
                <a:ea typeface="+mn-lt"/>
                <a:cs typeface="+mn-lt"/>
              </a:rPr>
              <a:t>Introduces a hybrid physics-informed machine learning framework</a:t>
            </a:r>
            <a:r>
              <a:rPr lang="en-US" sz="1700" dirty="0">
                <a:latin typeface="Times New Roman"/>
                <a:ea typeface="+mn-lt"/>
                <a:cs typeface="+mn-lt"/>
              </a:rPr>
              <a:t> for FBG-based structural health monitoring, explicitly fusing Bragg wavelength models with data-driven intelligence.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/>
                <a:ea typeface="+mn-lt"/>
                <a:cs typeface="+mn-lt"/>
              </a:rPr>
              <a:t> </a:t>
            </a:r>
            <a:r>
              <a:rPr lang="en-US" sz="17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This project proposes a </a:t>
            </a:r>
            <a:r>
              <a:rPr lang="en-US" sz="17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novel AI-driven approach to decouple temperature and strain </a:t>
            </a:r>
            <a:r>
              <a:rPr lang="en-US" sz="17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effects in sensor data, enabling accurate and robust strain estimation without additional compensation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ea typeface="+mn-lt"/>
                <a:cs typeface="+mn-lt"/>
              </a:rPr>
              <a:t> </a:t>
            </a:r>
            <a:r>
              <a:rPr lang="en-US" sz="1700" b="1" dirty="0">
                <a:latin typeface="Times New Roman"/>
                <a:ea typeface="+mn-lt"/>
                <a:cs typeface="+mn-lt"/>
              </a:rPr>
              <a:t>Proposes a quantitative Damage Severity Index (DSI)</a:t>
            </a:r>
            <a:r>
              <a:rPr lang="en-US" sz="1700" dirty="0">
                <a:latin typeface="Times New Roman"/>
                <a:ea typeface="+mn-lt"/>
                <a:cs typeface="+mn-lt"/>
              </a:rPr>
              <a:t>, moving beyond binary damage detection toward intelligent, decision-oriented structural assessment.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ea typeface="+mn-lt"/>
                <a:cs typeface="+mn-lt"/>
              </a:rPr>
              <a:t> </a:t>
            </a:r>
            <a:r>
              <a:rPr lang="en-US" sz="1700" b="1" dirty="0">
                <a:latin typeface="Times New Roman"/>
                <a:ea typeface="+mn-lt"/>
                <a:cs typeface="+mn-lt"/>
              </a:rPr>
              <a:t>Incorporates uncertainty-aware SHM</a:t>
            </a:r>
            <a:r>
              <a:rPr lang="en-US" sz="1700" dirty="0">
                <a:latin typeface="Times New Roman"/>
                <a:ea typeface="+mn-lt"/>
                <a:cs typeface="+mn-lt"/>
              </a:rPr>
              <a:t> by explicitly modeling sensor noise and prediction variability, enabling confidence-based damage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 an explainable AI framework for structural damage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that provides transparent, interpretable insights into damage mechanisms while maintaining high diagnostic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 progressive damage growth modeling approach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quantify damage evolution over time, moving beyond single-stage failure prediction</a:t>
            </a:r>
            <a:endParaRPr lang="en-US" sz="17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28600" indent="-228600">
              <a:buFont typeface="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dirty="0">
              <a:ea typeface="Calibri"/>
              <a:cs typeface="Calibri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806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9C8161-C613-FCCE-FC8F-734BE2F5C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7C899-4E62-8AFC-9AAC-2C1F1DD1C471}"/>
              </a:ext>
            </a:extLst>
          </p:cNvPr>
          <p:cNvSpPr txBox="1"/>
          <p:nvPr/>
        </p:nvSpPr>
        <p:spPr>
          <a:xfrm>
            <a:off x="3631963" y="726393"/>
            <a:ext cx="136732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600" b="1" i="0" u="none" strike="noStrike" baseline="0" dirty="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OBJECTIVE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​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C9A423-A7FB-3671-525E-D191659BACE0}"/>
              </a:ext>
            </a:extLst>
          </p:cNvPr>
          <p:cNvSpPr txBox="1"/>
          <p:nvPr/>
        </p:nvSpPr>
        <p:spPr>
          <a:xfrm>
            <a:off x="117505" y="1709160"/>
            <a:ext cx="8396242" cy="61401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b="1" dirty="0">
                <a:latin typeface="Times New Roman"/>
                <a:cs typeface="Times New Roman"/>
              </a:rPr>
              <a:t>To simulate Fiber Bragg Grating (FBG) sensor data</a:t>
            </a:r>
            <a:r>
              <a:rPr lang="en-US" sz="1700" dirty="0">
                <a:latin typeface="Times New Roman"/>
                <a:cs typeface="Times New Roman"/>
              </a:rPr>
              <a:t> for generating a comprehensive dataset suitable for structural health monitoring analysis.</a:t>
            </a:r>
          </a:p>
          <a:p>
            <a:pPr marL="285750" indent="-285750">
              <a:buFont typeface="Arial"/>
              <a:buChar char="•"/>
            </a:pPr>
            <a:endParaRPr lang="en-US" sz="17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700" b="1" dirty="0">
                <a:latin typeface="Times New Roman"/>
                <a:ea typeface="+mn-lt"/>
                <a:cs typeface="+mn-lt"/>
              </a:rPr>
              <a:t>To develop machine learning models </a:t>
            </a:r>
            <a:r>
              <a:rPr lang="en-US" sz="1700" dirty="0">
                <a:latin typeface="Times New Roman"/>
                <a:ea typeface="+mn-lt"/>
                <a:cs typeface="+mn-lt"/>
              </a:rPr>
              <a:t>for structural health monitoring using </a:t>
            </a:r>
            <a:r>
              <a:rPr lang="en-US" sz="1700" dirty="0" err="1">
                <a:latin typeface="Times New Roman"/>
                <a:ea typeface="+mn-lt"/>
                <a:cs typeface="+mn-lt"/>
              </a:rPr>
              <a:t>XGBoost</a:t>
            </a:r>
            <a:r>
              <a:rPr lang="en-US" sz="1700" dirty="0">
                <a:latin typeface="Times New Roman"/>
                <a:ea typeface="+mn-lt"/>
                <a:cs typeface="+mn-lt"/>
              </a:rPr>
              <a:t> and regression-based techniques and </a:t>
            </a:r>
            <a:r>
              <a:rPr lang="en-US" sz="1700" dirty="0">
                <a:latin typeface="Times New Roman"/>
                <a:ea typeface="+mn-lt"/>
                <a:cs typeface="Times New Roman"/>
              </a:rPr>
              <a:t>decouple temperature and strain effects</a:t>
            </a:r>
            <a:endParaRPr lang="en-US" sz="17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17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700" b="1" dirty="0">
                <a:latin typeface="Times New Roman"/>
                <a:ea typeface="Calibri"/>
                <a:cs typeface="Times New Roman"/>
              </a:rPr>
              <a:t>To quantify structural damage </a:t>
            </a:r>
            <a:r>
              <a:rPr lang="en-US" sz="1700" dirty="0">
                <a:latin typeface="Times New Roman"/>
                <a:ea typeface="Calibri"/>
                <a:cs typeface="Times New Roman"/>
              </a:rPr>
              <a:t>using a damage severity index instead of binary damage classification </a:t>
            </a:r>
            <a:r>
              <a:rPr lang="en-US" sz="1700" dirty="0" err="1">
                <a:latin typeface="Times New Roman"/>
                <a:ea typeface="Calibri"/>
                <a:cs typeface="Times New Roman"/>
              </a:rPr>
              <a:t>improvent</a:t>
            </a:r>
            <a:r>
              <a:rPr lang="en-US" sz="1700" dirty="0">
                <a:latin typeface="Times New Roman"/>
                <a:ea typeface="Calibri"/>
                <a:cs typeface="Times New Roman"/>
              </a:rPr>
              <a:t> to recent </a:t>
            </a:r>
            <a:r>
              <a:rPr lang="en-US" sz="1700" dirty="0" err="1">
                <a:latin typeface="Times New Roman"/>
                <a:ea typeface="Calibri"/>
                <a:cs typeface="Times New Roman"/>
              </a:rPr>
              <a:t>studys</a:t>
            </a:r>
            <a:r>
              <a:rPr lang="en-US" sz="1700" dirty="0">
                <a:latin typeface="Times New Roman"/>
                <a:ea typeface="Calibri"/>
                <a:cs typeface="Times New Roman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US" sz="1700" dirty="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700" b="1" dirty="0">
                <a:latin typeface="Times New Roman"/>
                <a:ea typeface="Calibri"/>
                <a:cs typeface="Times New Roman"/>
              </a:rPr>
              <a:t>To develop a hybrid physics-informed machine learning framework</a:t>
            </a:r>
            <a:r>
              <a:rPr lang="en-US" sz="1700" dirty="0">
                <a:latin typeface="Times New Roman"/>
                <a:ea typeface="Calibri"/>
                <a:cs typeface="Times New Roman"/>
              </a:rPr>
              <a:t> for FBG-based </a:t>
            </a:r>
            <a:r>
              <a:rPr lang="en-US" sz="1700" dirty="0" err="1">
                <a:latin typeface="Times New Roman"/>
                <a:ea typeface="Calibri"/>
                <a:cs typeface="Times New Roman"/>
              </a:rPr>
              <a:t>structuralhealth</a:t>
            </a:r>
            <a:r>
              <a:rPr lang="en-US" sz="1700" dirty="0">
                <a:latin typeface="Times New Roman"/>
                <a:ea typeface="Calibri"/>
                <a:cs typeface="Times New Roman"/>
              </a:rPr>
              <a:t> monitoring.</a:t>
            </a:r>
          </a:p>
          <a:p>
            <a:pPr marL="285750" indent="-285750">
              <a:buFont typeface="Arial"/>
              <a:buChar char="•"/>
            </a:pPr>
            <a:endParaRPr lang="en-US" sz="17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progressive damage growth modeling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enables quantitative prediction of structural degradation over time.</a:t>
            </a:r>
          </a:p>
          <a:p>
            <a:pPr marL="285750" indent="-285750">
              <a:buFont typeface="Arial"/>
              <a:buChar char="•"/>
            </a:pPr>
            <a:endParaRPr lang="en-US" sz="17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IN" b="1" dirty="0"/>
              <a:t>To develop explainable AI for structural damage </a:t>
            </a:r>
            <a:r>
              <a:rPr lang="en-IN" dirty="0"/>
              <a:t>that explains about the particular damage in the structure</a:t>
            </a:r>
            <a:endParaRPr lang="en-US" sz="17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endParaRPr lang="en-US" sz="17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1700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1700" dirty="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700" dirty="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700" dirty="0">
              <a:latin typeface="Times New Roman"/>
              <a:cs typeface="Times New Roman"/>
            </a:endParaRPr>
          </a:p>
          <a:p>
            <a:pPr algn="ctr"/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3165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D23299-374A-460A-A002-E2DB0818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4C37B0-B007-F10D-19CF-D68254D80D59}"/>
              </a:ext>
            </a:extLst>
          </p:cNvPr>
          <p:cNvSpPr/>
          <p:nvPr/>
        </p:nvSpPr>
        <p:spPr>
          <a:xfrm>
            <a:off x="1946263" y="1646426"/>
            <a:ext cx="1445558" cy="6275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Calibri"/>
              </a:rPr>
              <a:t>FBG Sensors</a:t>
            </a:r>
            <a:endParaRPr lang="en-US">
              <a:latin typeface="Times New Roman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704E2C-80B0-F2C7-023E-FEED37CADF69}"/>
              </a:ext>
            </a:extLst>
          </p:cNvPr>
          <p:cNvSpPr/>
          <p:nvPr/>
        </p:nvSpPr>
        <p:spPr>
          <a:xfrm>
            <a:off x="3952115" y="1646427"/>
            <a:ext cx="1535205" cy="6163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Calibri"/>
              </a:rPr>
              <a:t>Light source</a:t>
            </a:r>
            <a:endParaRPr lang="en-US">
              <a:latin typeface="Times New Roman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979977-2E78-4013-EA82-961D98AD6E81}"/>
              </a:ext>
            </a:extLst>
          </p:cNvPr>
          <p:cNvSpPr/>
          <p:nvPr/>
        </p:nvSpPr>
        <p:spPr>
          <a:xfrm>
            <a:off x="6145882" y="1646427"/>
            <a:ext cx="1550720" cy="6163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Times New Roman"/>
              </a:rPr>
              <a:t>Optical Interrogator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17B1797-A4A3-0460-780D-D3557E7B6983}"/>
              </a:ext>
            </a:extLst>
          </p:cNvPr>
          <p:cNvSpPr/>
          <p:nvPr/>
        </p:nvSpPr>
        <p:spPr>
          <a:xfrm>
            <a:off x="3688776" y="2789426"/>
            <a:ext cx="2061880" cy="6163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Calibri"/>
              </a:rPr>
              <a:t>Wavelength shift data</a:t>
            </a:r>
            <a:endParaRPr lang="en-US">
              <a:latin typeface="Times New Roman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170601C-067B-C637-080A-1D0351B1ED79}"/>
              </a:ext>
            </a:extLst>
          </p:cNvPr>
          <p:cNvSpPr/>
          <p:nvPr/>
        </p:nvSpPr>
        <p:spPr>
          <a:xfrm>
            <a:off x="1963934" y="3920359"/>
            <a:ext cx="5820592" cy="4715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Times New Roman"/>
              </a:rPr>
              <a:t>Signal Processing(</a:t>
            </a:r>
            <a:r>
              <a:rPr lang="en-US" err="1">
                <a:latin typeface="Times New Roman"/>
                <a:ea typeface="Calibri"/>
                <a:cs typeface="Times New Roman"/>
              </a:rPr>
              <a:t>Matlab</a:t>
            </a:r>
            <a:r>
              <a:rPr lang="en-US">
                <a:latin typeface="Times New Roman"/>
                <a:ea typeface="Calibri"/>
                <a:cs typeface="Times New Roman"/>
              </a:rPr>
              <a:t>/Python)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552360-957C-E7B2-19AD-AC3D30A444D3}"/>
              </a:ext>
            </a:extLst>
          </p:cNvPr>
          <p:cNvSpPr/>
          <p:nvPr/>
        </p:nvSpPr>
        <p:spPr>
          <a:xfrm>
            <a:off x="3391821" y="4756058"/>
            <a:ext cx="2588557" cy="6163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Calibri"/>
              </a:rPr>
              <a:t>Damage detection &amp; Alerts</a:t>
            </a:r>
            <a:endParaRPr lang="en-US">
              <a:latin typeface="Times New Roman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90C5BD6-6D1E-0C77-9541-E5F3304AE740}"/>
              </a:ext>
            </a:extLst>
          </p:cNvPr>
          <p:cNvSpPr/>
          <p:nvPr/>
        </p:nvSpPr>
        <p:spPr>
          <a:xfrm>
            <a:off x="3396562" y="1775295"/>
            <a:ext cx="559001" cy="36979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C7EA049-5686-638E-0287-32E7C6A0EEF3}"/>
              </a:ext>
            </a:extLst>
          </p:cNvPr>
          <p:cNvSpPr/>
          <p:nvPr/>
        </p:nvSpPr>
        <p:spPr>
          <a:xfrm>
            <a:off x="5491201" y="1775294"/>
            <a:ext cx="639597" cy="36979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57B18DFE-78EA-D6A6-6526-973C9B99B8F7}"/>
              </a:ext>
            </a:extLst>
          </p:cNvPr>
          <p:cNvSpPr/>
          <p:nvPr/>
        </p:nvSpPr>
        <p:spPr>
          <a:xfrm rot="5400000">
            <a:off x="4421040" y="2340330"/>
            <a:ext cx="534863" cy="36979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90C5BD6-6D1E-0C77-9541-E5F3304AE740}"/>
              </a:ext>
            </a:extLst>
          </p:cNvPr>
          <p:cNvSpPr/>
          <p:nvPr/>
        </p:nvSpPr>
        <p:spPr>
          <a:xfrm rot="5400000">
            <a:off x="4442587" y="3495399"/>
            <a:ext cx="519350" cy="35427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46D0BFA-3724-1870-2C7B-2E6EA36623CB}"/>
              </a:ext>
            </a:extLst>
          </p:cNvPr>
          <p:cNvSpPr/>
          <p:nvPr/>
        </p:nvSpPr>
        <p:spPr>
          <a:xfrm rot="5400000">
            <a:off x="4543441" y="4403073"/>
            <a:ext cx="379707" cy="37496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229D2E3-9F45-F52B-DBB4-71DFB0CE7498}"/>
              </a:ext>
            </a:extLst>
          </p:cNvPr>
          <p:cNvCxnSpPr/>
          <p:nvPr/>
        </p:nvCxnSpPr>
        <p:spPr>
          <a:xfrm>
            <a:off x="6832027" y="2285162"/>
            <a:ext cx="11205" cy="829235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EF3E827-0212-EFAD-5CF6-B1D769B52300}"/>
              </a:ext>
            </a:extLst>
          </p:cNvPr>
          <p:cNvSpPr txBox="1"/>
          <p:nvPr/>
        </p:nvSpPr>
        <p:spPr>
          <a:xfrm>
            <a:off x="1837345" y="598206"/>
            <a:ext cx="445449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600" b="1" i="0" u="none" strike="noStrike" baseline="0" dirty="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BLOCK DIAGRAM OF </a:t>
            </a:r>
            <a:r>
              <a:rPr lang="en-IN" sz="1600" b="1" dirty="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FBG SENSOR</a:t>
            </a:r>
            <a:r>
              <a:rPr lang="en-IN" sz="1600" b="1" i="0" u="none" strike="noStrike" baseline="0" dirty="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LOGIC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​</a:t>
            </a:r>
            <a:endParaRPr lang="en-US" sz="1600" dirty="0">
              <a:latin typeface="Times New Roman"/>
              <a:cs typeface="Times New Roman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2FE859-2CCD-8AE2-284C-D9029CC2F3ED}"/>
              </a:ext>
            </a:extLst>
          </p:cNvPr>
          <p:cNvCxnSpPr/>
          <p:nvPr/>
        </p:nvCxnSpPr>
        <p:spPr>
          <a:xfrm flipV="1">
            <a:off x="5757125" y="3104053"/>
            <a:ext cx="1068866" cy="4309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648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79AD7E-C9B0-53B1-9819-CEE383AD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704D40-13BC-420E-09DE-ED95DAF246F0}"/>
              </a:ext>
            </a:extLst>
          </p:cNvPr>
          <p:cNvSpPr/>
          <p:nvPr/>
        </p:nvSpPr>
        <p:spPr>
          <a:xfrm>
            <a:off x="1019735" y="1131794"/>
            <a:ext cx="7182970" cy="3585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Calibri"/>
              </a:rPr>
              <a:t>Simulating crack/Overload condition for FBG dataset generation</a:t>
            </a:r>
            <a:endParaRPr lang="en-US">
              <a:latin typeface="Times New Roman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465A94B-111E-7E30-BF5C-6E2E61DD6327}"/>
              </a:ext>
            </a:extLst>
          </p:cNvPr>
          <p:cNvSpPr/>
          <p:nvPr/>
        </p:nvSpPr>
        <p:spPr>
          <a:xfrm>
            <a:off x="1109382" y="1703294"/>
            <a:ext cx="2868705" cy="5827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Calibri"/>
              </a:rPr>
              <a:t>Define crack/Overload Condition</a:t>
            </a:r>
            <a:endParaRPr lang="en-US">
              <a:latin typeface="Times New Roman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3848D4-453B-5A22-C70E-32EC02850BAA}"/>
              </a:ext>
            </a:extLst>
          </p:cNvPr>
          <p:cNvSpPr/>
          <p:nvPr/>
        </p:nvSpPr>
        <p:spPr>
          <a:xfrm>
            <a:off x="4717676" y="1692088"/>
            <a:ext cx="3070411" cy="5939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Calibri"/>
              </a:rPr>
              <a:t>Mathematical modeling of FBG sensors</a:t>
            </a:r>
            <a:endParaRPr lang="en-US">
              <a:latin typeface="Times New Roman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4745E51-8DC2-E490-74C0-A570FF7739B5}"/>
              </a:ext>
            </a:extLst>
          </p:cNvPr>
          <p:cNvSpPr/>
          <p:nvPr/>
        </p:nvSpPr>
        <p:spPr>
          <a:xfrm>
            <a:off x="1983440" y="2554941"/>
            <a:ext cx="4829735" cy="5602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Calibri"/>
              </a:rPr>
              <a:t>Simulate strain and Temperature response</a:t>
            </a:r>
          </a:p>
          <a:p>
            <a:pPr algn="ctr"/>
            <a:r>
              <a:rPr lang="en-US">
                <a:latin typeface="Times New Roman"/>
                <a:ea typeface="Calibri"/>
                <a:cs typeface="Calibri"/>
              </a:rPr>
              <a:t>(</a:t>
            </a:r>
            <a:r>
              <a:rPr lang="en-US" err="1">
                <a:latin typeface="Times New Roman"/>
                <a:ea typeface="Calibri"/>
                <a:cs typeface="Calibri"/>
              </a:rPr>
              <a:t>Matlab</a:t>
            </a:r>
            <a:r>
              <a:rPr lang="en-US">
                <a:latin typeface="Times New Roman"/>
                <a:ea typeface="Calibri"/>
                <a:cs typeface="Calibri"/>
              </a:rPr>
              <a:t>/Python)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FA9C818-40B7-F283-F0C6-0A4B05417EEA}"/>
              </a:ext>
            </a:extLst>
          </p:cNvPr>
          <p:cNvSpPr/>
          <p:nvPr/>
        </p:nvSpPr>
        <p:spPr>
          <a:xfrm>
            <a:off x="851648" y="3730697"/>
            <a:ext cx="2867842" cy="7895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Calibri"/>
              </a:rPr>
              <a:t>Numerically generate strain vs time &amp; temp vs time signals</a:t>
            </a:r>
            <a:endParaRPr lang="en-US">
              <a:latin typeface="Times New Roman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495611-DEB0-CAED-83BD-43C22D6F2D9E}"/>
              </a:ext>
            </a:extLst>
          </p:cNvPr>
          <p:cNvSpPr/>
          <p:nvPr/>
        </p:nvSpPr>
        <p:spPr>
          <a:xfrm>
            <a:off x="4823701" y="3756556"/>
            <a:ext cx="2857500" cy="7740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Times New Roman"/>
                <a:ea typeface="Calibri"/>
                <a:cs typeface="Calibri"/>
              </a:rPr>
              <a:t>Calculate </a:t>
            </a:r>
            <a:r>
              <a:rPr lang="en-US" err="1">
                <a:latin typeface="Times New Roman"/>
                <a:ea typeface="Calibri"/>
                <a:cs typeface="Calibri"/>
              </a:rPr>
              <a:t>bragg</a:t>
            </a:r>
            <a:r>
              <a:rPr lang="en-US">
                <a:latin typeface="Times New Roman"/>
                <a:ea typeface="Calibri"/>
                <a:cs typeface="Calibri"/>
              </a:rPr>
              <a:t> wavelength shift</a:t>
            </a:r>
            <a:endParaRPr lang="en-US">
              <a:latin typeface="Times New Roman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3519FA-162B-8C53-41BB-D4859476993F}"/>
              </a:ext>
            </a:extLst>
          </p:cNvPr>
          <p:cNvSpPr/>
          <p:nvPr/>
        </p:nvSpPr>
        <p:spPr>
          <a:xfrm>
            <a:off x="2548045" y="5028853"/>
            <a:ext cx="2862671" cy="11309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>
                <a:latin typeface="Times New Roman"/>
                <a:ea typeface="Calibri"/>
                <a:cs typeface="Calibri"/>
              </a:rPr>
              <a:t>Generate FBG dataset  ​1)strain vs time</a:t>
            </a:r>
          </a:p>
          <a:p>
            <a:pPr algn="just"/>
            <a:r>
              <a:rPr lang="en-US">
                <a:latin typeface="Times New Roman"/>
                <a:ea typeface="Calibri"/>
                <a:cs typeface="Calibri"/>
              </a:rPr>
              <a:t>2)Temperature vs time</a:t>
            </a:r>
          </a:p>
          <a:p>
            <a:pPr algn="just"/>
            <a:r>
              <a:rPr lang="en-US">
                <a:latin typeface="Times New Roman"/>
                <a:ea typeface="Calibri"/>
                <a:cs typeface="Calibri"/>
              </a:rPr>
              <a:t>3)Bragg wavelength shift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971A0EA-52A0-F52C-023D-DF9ED4424591}"/>
              </a:ext>
            </a:extLst>
          </p:cNvPr>
          <p:cNvSpPr/>
          <p:nvPr/>
        </p:nvSpPr>
        <p:spPr>
          <a:xfrm>
            <a:off x="3978088" y="1887760"/>
            <a:ext cx="746486" cy="20773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AA82306A-A9B7-E8F9-DC9E-F5C76671D99E}"/>
              </a:ext>
            </a:extLst>
          </p:cNvPr>
          <p:cNvSpPr/>
          <p:nvPr/>
        </p:nvSpPr>
        <p:spPr>
          <a:xfrm>
            <a:off x="5681382" y="2285999"/>
            <a:ext cx="246529" cy="28014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5BF4BBC0-A2B0-1646-CF07-68DEC1FB7536}"/>
              </a:ext>
            </a:extLst>
          </p:cNvPr>
          <p:cNvSpPr/>
          <p:nvPr/>
        </p:nvSpPr>
        <p:spPr>
          <a:xfrm>
            <a:off x="2546321" y="3135060"/>
            <a:ext cx="262241" cy="58533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3E41F036-B9C1-C0E3-2A87-5319B44ACAEA}"/>
              </a:ext>
            </a:extLst>
          </p:cNvPr>
          <p:cNvSpPr/>
          <p:nvPr/>
        </p:nvSpPr>
        <p:spPr>
          <a:xfrm>
            <a:off x="5680520" y="3135059"/>
            <a:ext cx="262241" cy="58533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C736744B-C427-5C72-EDD3-4D16A6712E40}"/>
              </a:ext>
            </a:extLst>
          </p:cNvPr>
          <p:cNvSpPr/>
          <p:nvPr/>
        </p:nvSpPr>
        <p:spPr>
          <a:xfrm>
            <a:off x="3854823" y="4759049"/>
            <a:ext cx="272584" cy="269852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562F17-576E-DEF1-BED5-5F72AE8DDAC7}"/>
              </a:ext>
            </a:extLst>
          </p:cNvPr>
          <p:cNvCxnSpPr/>
          <p:nvPr/>
        </p:nvCxnSpPr>
        <p:spPr>
          <a:xfrm flipH="1">
            <a:off x="2687686" y="4515970"/>
            <a:ext cx="9481" cy="236184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6B9F94-B527-35DE-457A-28168256E10C}"/>
              </a:ext>
            </a:extLst>
          </p:cNvPr>
          <p:cNvCxnSpPr/>
          <p:nvPr/>
        </p:nvCxnSpPr>
        <p:spPr>
          <a:xfrm>
            <a:off x="2690274" y="4751293"/>
            <a:ext cx="3339352" cy="11205"/>
          </a:xfrm>
          <a:prstGeom prst="straightConnector1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CF01DC-39AD-991D-31C6-6AEAFF1E387F}"/>
              </a:ext>
            </a:extLst>
          </p:cNvPr>
          <p:cNvCxnSpPr/>
          <p:nvPr/>
        </p:nvCxnSpPr>
        <p:spPr>
          <a:xfrm>
            <a:off x="6027902" y="4532348"/>
            <a:ext cx="862" cy="219808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0A293C-CE17-3750-A44B-EDDFD8586053}"/>
              </a:ext>
            </a:extLst>
          </p:cNvPr>
          <p:cNvSpPr txBox="1"/>
          <p:nvPr/>
        </p:nvSpPr>
        <p:spPr>
          <a:xfrm>
            <a:off x="1677112" y="470019"/>
            <a:ext cx="457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b="1" baseline="0">
                <a:solidFill>
                  <a:srgbClr val="FF0000"/>
                </a:solidFill>
                <a:latin typeface="Times New Roman"/>
              </a:rPr>
              <a:t>FLOW CHART TO GENERATE DATASET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11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E0E4A0-F4A4-C3D6-5C15-CBB827D97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03F651-33E8-67ED-F949-3DD04E084234}"/>
              </a:ext>
            </a:extLst>
          </p:cNvPr>
          <p:cNvSpPr txBox="1"/>
          <p:nvPr/>
        </p:nvSpPr>
        <p:spPr>
          <a:xfrm>
            <a:off x="2299995" y="502547"/>
            <a:ext cx="4544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0A61E-519C-F91A-2421-4776BD30DB0F}"/>
              </a:ext>
            </a:extLst>
          </p:cNvPr>
          <p:cNvSpPr txBox="1"/>
          <p:nvPr/>
        </p:nvSpPr>
        <p:spPr>
          <a:xfrm>
            <a:off x="723122" y="1455576"/>
            <a:ext cx="7697755" cy="52783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700">
                <a:latin typeface="Times New Roman"/>
                <a:cs typeface="Times New Roman"/>
              </a:rPr>
              <a:t>This project uses three essential software tools for design, simulation, synthesis, and analysis of the structural health monitoring.</a:t>
            </a:r>
          </a:p>
          <a:p>
            <a:pPr algn="just"/>
            <a:endParaRPr lang="en-US" sz="170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>
                <a:latin typeface="Times New Roman"/>
                <a:cs typeface="Times New Roman"/>
              </a:rPr>
              <a:t> </a:t>
            </a:r>
            <a:r>
              <a:rPr lang="en-US" sz="1700" b="1">
                <a:latin typeface="Times New Roman"/>
                <a:cs typeface="Times New Roman"/>
              </a:rPr>
              <a:t>MATLAB</a:t>
            </a:r>
          </a:p>
          <a:p>
            <a:pPr algn="just"/>
            <a:r>
              <a:rPr lang="en-US" sz="1700">
                <a:latin typeface="Times New Roman"/>
                <a:cs typeface="Times New Roman"/>
              </a:rPr>
              <a:t> MATLAB  is used for processing wavelength shift data obtained from Fiber Bragg Grating (FBG) sensors. It performs noise filtering, temperature compensation, and physics-based modeling to accurately convert optical signals into structural strain and damage-related parameters. </a:t>
            </a:r>
          </a:p>
          <a:p>
            <a:pPr marL="285750" indent="-285750" algn="just">
              <a:buFont typeface="Arial"/>
              <a:buChar char="•"/>
            </a:pPr>
            <a:endParaRPr lang="en-US" sz="1700">
              <a:latin typeface="Times New Roman"/>
              <a:cs typeface="Times New Roman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>
                <a:latin typeface="Times New Roman"/>
                <a:cs typeface="Times New Roman"/>
              </a:rPr>
              <a:t> Python (NumPy / Tensor flow)</a:t>
            </a:r>
          </a:p>
          <a:p>
            <a:pPr algn="just"/>
            <a:r>
              <a:rPr lang="en-US" sz="1700">
                <a:latin typeface="Times New Roman"/>
                <a:cs typeface="Times New Roman"/>
              </a:rPr>
              <a:t>Used to generate test inputs and validate the multiplier’s numerical accuracy for neural network computations.</a:t>
            </a:r>
          </a:p>
          <a:p>
            <a:pPr marL="285750" indent="-285750" algn="just">
              <a:buFont typeface="Arial"/>
              <a:buChar char="•"/>
            </a:pPr>
            <a:endParaRPr lang="en-US" sz="1700">
              <a:latin typeface="Times New Roman"/>
              <a:ea typeface="+mn-lt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700" b="1" err="1">
                <a:latin typeface="Times New Roman"/>
                <a:ea typeface="+mn-lt"/>
                <a:cs typeface="+mn-lt"/>
              </a:rPr>
              <a:t>Jupyter</a:t>
            </a:r>
            <a:r>
              <a:rPr lang="en-US" sz="1700" b="1">
                <a:latin typeface="Times New Roman"/>
                <a:ea typeface="+mn-lt"/>
                <a:cs typeface="+mn-lt"/>
              </a:rPr>
              <a:t> Notebook</a:t>
            </a:r>
            <a:r>
              <a:rPr lang="en-US" sz="1700">
                <a:latin typeface="Times New Roman"/>
                <a:cs typeface="Times New Roman"/>
              </a:rPr>
              <a:t> </a:t>
            </a:r>
          </a:p>
          <a:p>
            <a:pPr algn="just"/>
            <a:r>
              <a:rPr lang="en-US" sz="1700">
                <a:latin typeface="Times New Roman"/>
                <a:cs typeface="Times New Roman"/>
              </a:rPr>
              <a:t>provides an interactive environment to integrate Python algorithms, visualize sensor data, analyze results step-by-step, and document experiments clearly for validation and reporting</a:t>
            </a:r>
            <a:r>
              <a:rPr lang="en-US" sz="1600">
                <a:latin typeface="Times New Roman"/>
                <a:cs typeface="Times New Roman"/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endParaRPr lang="en-US" sz="1600">
              <a:latin typeface="Times New Roman"/>
              <a:cs typeface="Times New Roman"/>
            </a:endParaRPr>
          </a:p>
          <a:p>
            <a:pPr algn="just"/>
            <a:endParaRPr lang="en-US" sz="1600">
              <a:latin typeface="Times New Roman"/>
              <a:cs typeface="Times New Roman"/>
            </a:endParaRPr>
          </a:p>
          <a:p>
            <a:pPr algn="just"/>
            <a:endParaRPr lang="en-US" sz="1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15252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6E42F3-4671-D632-3DB7-C4365175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00FFED-863E-F57B-23A1-0513511D9CBA}"/>
              </a:ext>
            </a:extLst>
          </p:cNvPr>
          <p:cNvSpPr txBox="1"/>
          <p:nvPr/>
        </p:nvSpPr>
        <p:spPr>
          <a:xfrm>
            <a:off x="737075" y="1260505"/>
            <a:ext cx="8203962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700" b="1">
                <a:latin typeface="Times New Roman"/>
                <a:cs typeface="Times New Roman"/>
              </a:rPr>
              <a:t>PHASE 1:  FBG Data Simulation</a:t>
            </a:r>
            <a:endParaRPr lang="en-US" sz="1700">
              <a:latin typeface="Times New Roman"/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 sz="1700" b="1">
                <a:latin typeface="Times New Roman"/>
                <a:cs typeface="Times New Roman"/>
              </a:rPr>
              <a:t>Duration:</a:t>
            </a:r>
            <a:r>
              <a:rPr lang="en-US" sz="1700">
                <a:latin typeface="Times New Roman"/>
                <a:cs typeface="Times New Roman"/>
              </a:rPr>
              <a:t> Weeks 1–2</a:t>
            </a:r>
            <a:endParaRPr lang="en-US" sz="1700"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1700" b="1">
                <a:latin typeface="Times New Roman"/>
                <a:cs typeface="Times New Roman"/>
              </a:rPr>
              <a:t>Objectives</a:t>
            </a:r>
            <a:endParaRPr lang="en-US" sz="1700" b="1">
              <a:latin typeface="Times New Roman"/>
              <a:ea typeface="Calibri"/>
              <a:cs typeface="Times New Roman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700">
                <a:latin typeface="Times New Roman"/>
                <a:cs typeface="Times New Roman"/>
              </a:rPr>
              <a:t>Generate physics-based FBG datasets</a:t>
            </a:r>
            <a:endParaRPr lang="en-US" sz="1700">
              <a:latin typeface="Times New Roman"/>
              <a:ea typeface="Calibri"/>
              <a:cs typeface="Times New Roman"/>
            </a:endParaRPr>
          </a:p>
          <a:p>
            <a:pPr marL="228600" indent="-228600" algn="just">
              <a:buFont typeface=""/>
              <a:buChar char="•"/>
            </a:pPr>
            <a:endParaRPr lang="en-US" sz="1700">
              <a:latin typeface="Times New Roman"/>
              <a:cs typeface="Times New Roman"/>
            </a:endParaRPr>
          </a:p>
          <a:p>
            <a:pPr algn="ctr"/>
            <a:r>
              <a:rPr lang="en-US" sz="1700" b="1">
                <a:latin typeface="Times New Roman"/>
                <a:cs typeface="Times New Roman"/>
              </a:rPr>
              <a:t>Activities</a:t>
            </a:r>
          </a:p>
          <a:p>
            <a:pPr marL="228600" indent="-228600" algn="just">
              <a:buFont typeface=""/>
              <a:buChar char="•"/>
            </a:pPr>
            <a:r>
              <a:rPr lang="en-US" sz="1700">
                <a:latin typeface="Times New Roman"/>
                <a:cs typeface="Times New Roman"/>
              </a:rPr>
              <a:t>Develop mathematical models for FBG sensing:</a:t>
            </a:r>
            <a:endParaRPr lang="en-US" sz="1700">
              <a:latin typeface="Times New Roman"/>
              <a:ea typeface="Calibri"/>
              <a:cs typeface="Times New Roman"/>
            </a:endParaRPr>
          </a:p>
          <a:p>
            <a:pPr marL="228600" lvl="1" indent="-228600" algn="just">
              <a:buFont typeface=""/>
              <a:buChar char="•"/>
            </a:pPr>
            <a:r>
              <a:rPr lang="en-US" sz="1700">
                <a:latin typeface="Times New Roman"/>
                <a:cs typeface="Times New Roman"/>
              </a:rPr>
              <a:t>Bragg wavelength equation</a:t>
            </a:r>
            <a:endParaRPr lang="en-US" sz="1700">
              <a:latin typeface="Times New Roman"/>
              <a:ea typeface="Calibri"/>
              <a:cs typeface="Times New Roman"/>
            </a:endParaRPr>
          </a:p>
          <a:p>
            <a:pPr marL="228600" lvl="1" indent="-228600" algn="just">
              <a:buFont typeface=""/>
              <a:buChar char="•"/>
            </a:pPr>
            <a:r>
              <a:rPr lang="en-US" sz="1700">
                <a:latin typeface="Times New Roman"/>
                <a:cs typeface="Times New Roman"/>
              </a:rPr>
              <a:t>Strain–temperature coupling</a:t>
            </a:r>
            <a:endParaRPr lang="en-US" sz="1700">
              <a:latin typeface="Times New Roman"/>
              <a:ea typeface="Calibri"/>
              <a:cs typeface="Times New Roman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700">
                <a:latin typeface="Times New Roman"/>
                <a:cs typeface="Times New Roman"/>
              </a:rPr>
              <a:t>Simulate FBG data using MATLAB / Python:</a:t>
            </a:r>
            <a:endParaRPr lang="en-US" sz="1700">
              <a:latin typeface="Times New Roman"/>
              <a:ea typeface="Calibri"/>
              <a:cs typeface="Times New Roman"/>
            </a:endParaRPr>
          </a:p>
          <a:p>
            <a:pPr marL="228600" lvl="1" indent="-228600" algn="just">
              <a:buFont typeface=""/>
              <a:buChar char="•"/>
            </a:pPr>
            <a:r>
              <a:rPr lang="en-US" sz="1700">
                <a:latin typeface="Times New Roman"/>
                <a:cs typeface="Times New Roman"/>
              </a:rPr>
              <a:t>Strain variation under load</a:t>
            </a:r>
            <a:endParaRPr lang="en-US" sz="1700">
              <a:latin typeface="Times New Roman"/>
              <a:ea typeface="Calibri"/>
              <a:cs typeface="Times New Roman"/>
            </a:endParaRPr>
          </a:p>
          <a:p>
            <a:pPr marL="228600" lvl="1" indent="-228600" algn="just">
              <a:buFont typeface=""/>
              <a:buChar char="•"/>
            </a:pPr>
            <a:r>
              <a:rPr lang="en-US" sz="1700">
                <a:latin typeface="Times New Roman"/>
                <a:cs typeface="Times New Roman"/>
              </a:rPr>
              <a:t>Temperature variation</a:t>
            </a:r>
            <a:endParaRPr lang="en-US" sz="1700">
              <a:latin typeface="Times New Roman"/>
              <a:ea typeface="Calibri"/>
              <a:cs typeface="Times New Roman"/>
            </a:endParaRPr>
          </a:p>
          <a:p>
            <a:pPr marL="228600" lvl="1" indent="-228600" algn="just">
              <a:buFont typeface=""/>
              <a:buChar char="•"/>
            </a:pPr>
            <a:r>
              <a:rPr lang="en-US" sz="1700">
                <a:latin typeface="Times New Roman"/>
                <a:cs typeface="Times New Roman"/>
              </a:rPr>
              <a:t>Combined strain–temperature response</a:t>
            </a:r>
            <a:endParaRPr lang="en-US" sz="1700">
              <a:latin typeface="Times New Roman"/>
              <a:ea typeface="Calibri"/>
              <a:cs typeface="Times New Roman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700">
                <a:latin typeface="Times New Roman"/>
                <a:cs typeface="Times New Roman"/>
              </a:rPr>
              <a:t>Introduce noise and uncertainty to mimic real data</a:t>
            </a:r>
            <a:endParaRPr lang="en-US" sz="1700">
              <a:latin typeface="Times New Roman"/>
              <a:ea typeface="Calibri"/>
              <a:cs typeface="Times New Roman"/>
            </a:endParaRPr>
          </a:p>
          <a:p>
            <a:pPr marL="228600" indent="-228600" algn="just">
              <a:buFont typeface=""/>
              <a:buChar char="•"/>
            </a:pPr>
            <a:endParaRPr lang="en-US" sz="1700">
              <a:latin typeface="Times New Roman"/>
              <a:cs typeface="Times New Roman"/>
            </a:endParaRPr>
          </a:p>
          <a:p>
            <a:pPr algn="ctr"/>
            <a:r>
              <a:rPr lang="en-US" sz="1700" b="1">
                <a:latin typeface="Times New Roman"/>
                <a:cs typeface="Times New Roman"/>
              </a:rPr>
              <a:t>Deliverables </a:t>
            </a:r>
            <a:endParaRPr lang="en-US" sz="1700" b="1">
              <a:latin typeface="Times New Roman"/>
              <a:ea typeface="Calibri"/>
              <a:cs typeface="Times New Roman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700">
                <a:latin typeface="Times New Roman"/>
                <a:cs typeface="Times New Roman"/>
              </a:rPr>
              <a:t>Physics-based FBG simulation code</a:t>
            </a:r>
            <a:endParaRPr lang="en-US" sz="1700">
              <a:latin typeface="Times New Roman"/>
              <a:ea typeface="Calibri"/>
              <a:cs typeface="Times New Roman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700">
                <a:latin typeface="Times New Roman"/>
                <a:cs typeface="Times New Roman"/>
              </a:rPr>
              <a:t>Initial dataset (strain, temperature, wavelength shift)</a:t>
            </a:r>
            <a:endParaRPr lang="en-US" sz="1700">
              <a:latin typeface="Times New Roman"/>
              <a:ea typeface="Calibri"/>
              <a:cs typeface="Times New Roman"/>
            </a:endParaRPr>
          </a:p>
          <a:p>
            <a:pPr algn="just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98F95-19FD-51D1-A625-F9D33A45A8C7}"/>
              </a:ext>
            </a:extLst>
          </p:cNvPr>
          <p:cNvSpPr txBox="1"/>
          <p:nvPr/>
        </p:nvSpPr>
        <p:spPr>
          <a:xfrm>
            <a:off x="2286000" y="42684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>
                <a:solidFill>
                  <a:srgbClr val="FF0000"/>
                </a:solidFill>
              </a:rPr>
              <a:t>PROJECT PLAN</a:t>
            </a:r>
          </a:p>
        </p:txBody>
      </p:sp>
    </p:spTree>
    <p:extLst>
      <p:ext uri="{BB962C8B-B14F-4D97-AF65-F5344CB8AC3E}">
        <p14:creationId xmlns:p14="http://schemas.microsoft.com/office/powerpoint/2010/main" val="4080049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33EB29-4F33-99DA-7F9D-4B303BC7F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CBE7E-5310-D7A8-B6C3-86E1F591700A}"/>
              </a:ext>
            </a:extLst>
          </p:cNvPr>
          <p:cNvSpPr txBox="1"/>
          <p:nvPr/>
        </p:nvSpPr>
        <p:spPr>
          <a:xfrm>
            <a:off x="2286000" y="51407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>
                <a:solidFill>
                  <a:srgbClr val="FF0000"/>
                </a:solidFill>
              </a:rPr>
              <a:t>PROJECT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12B41-C2B3-6A3E-AF03-7B9FE1756002}"/>
              </a:ext>
            </a:extLst>
          </p:cNvPr>
          <p:cNvSpPr txBox="1"/>
          <p:nvPr/>
        </p:nvSpPr>
        <p:spPr>
          <a:xfrm>
            <a:off x="822977" y="1177154"/>
            <a:ext cx="7690327" cy="48013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700" b="1">
                <a:latin typeface="Times New Roman"/>
                <a:cs typeface="Times New Roman"/>
              </a:rPr>
              <a:t>PHASE 2: Machine Learning Model Development</a:t>
            </a:r>
            <a:endParaRPr lang="en-US" sz="1700">
              <a:latin typeface="Times New Roman"/>
              <a:cs typeface="Times New Roman"/>
            </a:endParaRPr>
          </a:p>
          <a:p>
            <a:pPr algn="ctr"/>
            <a:endParaRPr lang="en-US" sz="1700" b="1">
              <a:latin typeface="Times New Roman"/>
              <a:cs typeface="Times New Roman"/>
            </a:endParaRPr>
          </a:p>
          <a:p>
            <a:pPr algn="just">
              <a:buNone/>
            </a:pPr>
            <a:r>
              <a:rPr lang="en-US" sz="1700" b="1">
                <a:latin typeface="Times New Roman"/>
                <a:cs typeface="Times New Roman"/>
              </a:rPr>
              <a:t>Duration:</a:t>
            </a:r>
            <a:r>
              <a:rPr lang="en-US" sz="1700">
                <a:latin typeface="Times New Roman"/>
                <a:cs typeface="Times New Roman"/>
              </a:rPr>
              <a:t> Weeks 3-6</a:t>
            </a:r>
          </a:p>
          <a:p>
            <a:pPr algn="ctr">
              <a:buNone/>
            </a:pPr>
            <a:r>
              <a:rPr lang="en-US" sz="1700" b="1">
                <a:latin typeface="Times New Roman"/>
                <a:cs typeface="Times New Roman"/>
              </a:rPr>
              <a:t>Objectives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>
                <a:latin typeface="Times New Roman"/>
                <a:cs typeface="Times New Roman"/>
              </a:rPr>
              <a:t> Develop ML models for decoupling and damage detection</a:t>
            </a:r>
          </a:p>
          <a:p>
            <a:pPr algn="ctr"/>
            <a:endParaRPr lang="en-US" sz="1700" b="1">
              <a:latin typeface="Times New Roman"/>
              <a:cs typeface="Times New Roman"/>
            </a:endParaRPr>
          </a:p>
          <a:p>
            <a:pPr algn="ctr">
              <a:buNone/>
            </a:pPr>
            <a:r>
              <a:rPr lang="en-US" sz="1700" b="1">
                <a:latin typeface="Times New Roman"/>
                <a:cs typeface="Times New Roman"/>
              </a:rPr>
              <a:t>Activities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>
                <a:latin typeface="Times New Roman"/>
                <a:cs typeface="Times New Roman"/>
              </a:rPr>
              <a:t>  Data preprocessing and feature extraction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>
                <a:latin typeface="Times New Roman"/>
                <a:cs typeface="Times New Roman"/>
              </a:rPr>
              <a:t>  Develop ML models:</a:t>
            </a:r>
          </a:p>
          <a:p>
            <a:pPr lvl="1" algn="just"/>
            <a:r>
              <a:rPr lang="en-US" sz="1700">
                <a:latin typeface="Times New Roman"/>
                <a:cs typeface="Times New Roman"/>
              </a:rPr>
              <a:t>1)ML-based temperature strain decoupling</a:t>
            </a:r>
            <a:endParaRPr lang="en-US" sz="1700">
              <a:latin typeface="Times New Roman"/>
              <a:ea typeface="Calibri" panose="020F0502020204030204"/>
              <a:cs typeface="Calibri" panose="020F0502020204030204"/>
            </a:endParaRPr>
          </a:p>
          <a:p>
            <a:pPr lvl="1" algn="just"/>
            <a:r>
              <a:rPr lang="en-US" sz="1700">
                <a:latin typeface="Times New Roman"/>
                <a:cs typeface="Times New Roman"/>
              </a:rPr>
              <a:t>2)Anomaly detection (Autoencoder / Isolation Forest)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>
                <a:latin typeface="Times New Roman"/>
                <a:cs typeface="Times New Roman"/>
              </a:rPr>
              <a:t>Validate ML results against simulated ground truth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>
                <a:latin typeface="Times New Roman"/>
                <a:cs typeface="Times New Roman"/>
              </a:rPr>
              <a:t>Compare physics-based and ML-based results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700">
              <a:latin typeface="Times New Roman"/>
              <a:cs typeface="Times New Roman"/>
            </a:endParaRPr>
          </a:p>
          <a:p>
            <a:pPr algn="ctr">
              <a:buNone/>
            </a:pPr>
            <a:r>
              <a:rPr lang="en-US" sz="1700" b="1">
                <a:latin typeface="Times New Roman"/>
                <a:cs typeface="Times New Roman"/>
              </a:rPr>
              <a:t>Deliverables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>
                <a:latin typeface="Times New Roman"/>
                <a:cs typeface="Times New Roman"/>
              </a:rPr>
              <a:t>Trained ML models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>
                <a:latin typeface="Times New Roman"/>
                <a:cs typeface="Times New Roman"/>
              </a:rPr>
              <a:t>Decoupled strain and temperature results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>
                <a:latin typeface="Times New Roman"/>
                <a:cs typeface="Times New Roman"/>
              </a:rPr>
              <a:t>Performance 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4129863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82EC44-D7D5-2165-0BA6-49587245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340AC7-02EC-5935-C664-6B364184619D}"/>
              </a:ext>
            </a:extLst>
          </p:cNvPr>
          <p:cNvSpPr txBox="1"/>
          <p:nvPr/>
        </p:nvSpPr>
        <p:spPr>
          <a:xfrm>
            <a:off x="654671" y="936048"/>
            <a:ext cx="8074324" cy="48013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700" b="1" dirty="0">
                <a:latin typeface="Times New Roman"/>
                <a:cs typeface="Times New Roman"/>
              </a:rPr>
              <a:t>  PHASE 3: Advanced SHM Capabilities &amp; Real-Time </a:t>
            </a:r>
            <a:r>
              <a:rPr lang="en-US" sz="1700" b="1" dirty="0" err="1">
                <a:latin typeface="Times New Roman"/>
                <a:cs typeface="Times New Roman"/>
              </a:rPr>
              <a:t>Frameworkk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algn="ctr"/>
            <a:endParaRPr lang="en-US" sz="1700" b="1" dirty="0">
              <a:latin typeface="Times New Roman"/>
              <a:cs typeface="Times New Roman"/>
            </a:endParaRPr>
          </a:p>
          <a:p>
            <a:pPr algn="just">
              <a:buNone/>
            </a:pPr>
            <a:r>
              <a:rPr lang="en-US" sz="1700" b="1" dirty="0">
                <a:latin typeface="Times New Roman"/>
                <a:cs typeface="Times New Roman"/>
              </a:rPr>
              <a:t>Duration:</a:t>
            </a:r>
            <a:r>
              <a:rPr lang="en-US" sz="1700" dirty="0">
                <a:latin typeface="Times New Roman"/>
                <a:cs typeface="Times New Roman"/>
              </a:rPr>
              <a:t> Weeks 7-12</a:t>
            </a:r>
          </a:p>
          <a:p>
            <a:pPr algn="ctr">
              <a:buNone/>
            </a:pPr>
            <a:r>
              <a:rPr lang="en-US" sz="1700" b="1" dirty="0">
                <a:latin typeface="Times New Roman"/>
                <a:cs typeface="Times New Roman"/>
              </a:rPr>
              <a:t>Objectives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 Enhance SHM system intelligence and reliability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700" dirty="0">
              <a:latin typeface="Times New Roman"/>
              <a:cs typeface="Times New Roman"/>
            </a:endParaRPr>
          </a:p>
          <a:p>
            <a:pPr algn="ctr">
              <a:buNone/>
            </a:pPr>
            <a:r>
              <a:rPr lang="en-US" sz="1700" b="1" dirty="0">
                <a:latin typeface="Times New Roman"/>
                <a:cs typeface="Times New Roman"/>
              </a:rPr>
              <a:t>Activities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 Implement hybrid physics-informed ML framework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 Develop Damage Severity Index (DSI):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 Implement Uncertainty-Aware SHM: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  Generate alerts, severity levels, and visual outputs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700" dirty="0">
              <a:latin typeface="Times New Roman"/>
              <a:cs typeface="Times New Roman"/>
            </a:endParaRPr>
          </a:p>
          <a:p>
            <a:pPr algn="ctr"/>
            <a:r>
              <a:rPr lang="en-US" sz="1700" b="1" dirty="0">
                <a:latin typeface="Times New Roman"/>
                <a:cs typeface="Times New Roman"/>
              </a:rPr>
              <a:t>Deliverables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 Integrated real-time SHM framework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 Damage severity assessment results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 Uncertainty-aware detection with confidence measures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 Damage explanation and simulation for growth assessment </a:t>
            </a:r>
          </a:p>
          <a:p>
            <a:pPr algn="just"/>
            <a:endParaRPr lang="en-US" sz="17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6DAF5-00A0-0D20-0F21-E819DFC876F7}"/>
              </a:ext>
            </a:extLst>
          </p:cNvPr>
          <p:cNvSpPr txBox="1"/>
          <p:nvPr/>
        </p:nvSpPr>
        <p:spPr>
          <a:xfrm>
            <a:off x="2192188" y="18627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>
                <a:solidFill>
                  <a:srgbClr val="FF0000"/>
                </a:solidFill>
              </a:rPr>
              <a:t>PROJECT PLAN</a:t>
            </a:r>
          </a:p>
        </p:txBody>
      </p:sp>
    </p:spTree>
    <p:extLst>
      <p:ext uri="{BB962C8B-B14F-4D97-AF65-F5344CB8AC3E}">
        <p14:creationId xmlns:p14="http://schemas.microsoft.com/office/powerpoint/2010/main" val="1023905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EDC9B7-B3CF-4780-22C4-B4C3411F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B922BF-0FCD-E5CA-1067-500EF8642AE3}"/>
              </a:ext>
            </a:extLst>
          </p:cNvPr>
          <p:cNvSpPr txBox="1"/>
          <p:nvPr/>
        </p:nvSpPr>
        <p:spPr>
          <a:xfrm>
            <a:off x="2290579" y="404748"/>
            <a:ext cx="4292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208B3-11B5-B1E9-01E8-A21B2ADED1D3}"/>
              </a:ext>
            </a:extLst>
          </p:cNvPr>
          <p:cNvSpPr txBox="1"/>
          <p:nvPr/>
        </p:nvSpPr>
        <p:spPr>
          <a:xfrm>
            <a:off x="352514" y="1078906"/>
            <a:ext cx="8374877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buFont typeface="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Structural Health Monitoring is essential for ensuring the safety, reliability, and long-term performance of critical civil infrastructure.</a:t>
            </a:r>
          </a:p>
          <a:p>
            <a:pPr marL="228600" indent="-228600" algn="just">
              <a:buFont typeface=""/>
              <a:buChar char="•"/>
            </a:pPr>
            <a:endParaRPr lang="en-US" sz="1700" dirty="0">
              <a:latin typeface="Times New Roman"/>
              <a:cs typeface="Times New Roman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Advanced sensing technologies, particularly Fiber Bragg Grating (FBG) sensors, enable accurate and continuous measurement of structural responses under real operating conditions.</a:t>
            </a:r>
          </a:p>
          <a:p>
            <a:pPr algn="just"/>
            <a:endParaRPr lang="en-US" sz="1700" dirty="0">
              <a:latin typeface="Times New Roman"/>
              <a:cs typeface="Times New Roman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The integration of machine learning with SHM systems enhances data interpretation, anomaly detection, and damage identification in large-scale and long-term monitoring scenarios.</a:t>
            </a:r>
          </a:p>
          <a:p>
            <a:pPr algn="just"/>
            <a:endParaRPr lang="en-US" sz="1700" dirty="0">
              <a:latin typeface="Times New Roman"/>
              <a:cs typeface="Times New Roman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Hybrid physics-informed and data-driven modeling improves robustness, interpretability, and reliability of damage assessment.</a:t>
            </a:r>
          </a:p>
          <a:p>
            <a:pPr algn="just"/>
            <a:endParaRPr lang="en-US" sz="1700" dirty="0">
              <a:latin typeface="Times New Roman"/>
              <a:cs typeface="Times New Roman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Explicit decoupling of temperature and strain effects reduces false alarms and increases accuracy in real-world monitoring environments.</a:t>
            </a:r>
          </a:p>
          <a:p>
            <a:pPr algn="just"/>
            <a:endParaRPr lang="en-US" sz="1700" dirty="0">
              <a:latin typeface="Times New Roman"/>
              <a:cs typeface="Times New Roman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Simulation and Expiation AI for future damage and effective </a:t>
            </a:r>
            <a:r>
              <a:rPr lang="en-US" sz="1700" dirty="0" err="1">
                <a:latin typeface="Times New Roman"/>
                <a:cs typeface="Times New Roman"/>
              </a:rPr>
              <a:t>diagnolsing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</a:p>
          <a:p>
            <a:pPr marL="228600" indent="-228600" algn="just">
              <a:buFont typeface="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25286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210B58-64E3-900C-79DB-1CC585D0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DC194-F713-8273-8D4B-780FDE333D24}"/>
              </a:ext>
            </a:extLst>
          </p:cNvPr>
          <p:cNvSpPr txBox="1"/>
          <p:nvPr/>
        </p:nvSpPr>
        <p:spPr>
          <a:xfrm>
            <a:off x="1296955" y="391886"/>
            <a:ext cx="4833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DBEF09-7679-5525-E18C-49E6EA90415A}"/>
              </a:ext>
            </a:extLst>
          </p:cNvPr>
          <p:cNvSpPr txBox="1"/>
          <p:nvPr/>
        </p:nvSpPr>
        <p:spPr>
          <a:xfrm>
            <a:off x="755779" y="1203649"/>
            <a:ext cx="7632441" cy="55399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IN" sz="1600">
                <a:latin typeface="Times New Roman"/>
                <a:ea typeface="+mn-lt"/>
                <a:cs typeface="+mn-lt"/>
              </a:rPr>
              <a:t>[1] M. H. Yassin, M. H. Farhat, and R. </a:t>
            </a:r>
            <a:r>
              <a:rPr lang="en-IN" sz="1600" err="1">
                <a:latin typeface="Times New Roman"/>
                <a:ea typeface="+mn-lt"/>
                <a:cs typeface="+mn-lt"/>
              </a:rPr>
              <a:t>Soleimanpour</a:t>
            </a:r>
            <a:r>
              <a:rPr lang="en-IN" sz="1600">
                <a:latin typeface="Times New Roman"/>
                <a:ea typeface="+mn-lt"/>
                <a:cs typeface="+mn-lt"/>
              </a:rPr>
              <a:t>, “Fiber Bragg grating (FBG)-based sensors: A review of technology and recent applications in structural health monitoring of civil engineering structures,” </a:t>
            </a:r>
            <a:r>
              <a:rPr lang="en-IN" sz="1600" i="1">
                <a:latin typeface="Times New Roman"/>
                <a:ea typeface="+mn-lt"/>
                <a:cs typeface="+mn-lt"/>
              </a:rPr>
              <a:t>Springer Nature Link Journal</a:t>
            </a:r>
            <a:r>
              <a:rPr lang="en-IN" sz="1600">
                <a:latin typeface="Times New Roman"/>
                <a:ea typeface="+mn-lt"/>
                <a:cs typeface="+mn-lt"/>
              </a:rPr>
              <a:t>, 2024.</a:t>
            </a:r>
            <a:endParaRPr lang="en-US" sz="1600"/>
          </a:p>
          <a:p>
            <a:pPr algn="just"/>
            <a:endParaRPr lang="en-IN" sz="1600">
              <a:latin typeface="Times New Roman"/>
              <a:ea typeface="Calibri"/>
              <a:cs typeface="Calibri"/>
            </a:endParaRPr>
          </a:p>
          <a:p>
            <a:pPr algn="just"/>
            <a:r>
              <a:rPr lang="en-IN" sz="1600">
                <a:latin typeface="Times New Roman"/>
                <a:ea typeface="+mn-lt"/>
                <a:cs typeface="+mn-lt"/>
              </a:rPr>
              <a:t>[2] Z. Lei, L. Zhu, Y. Fang, C. Niu, and Y. Zhao, “Fiber Bragg grating smart material and structural health monitoring system based on digital twin drive,” </a:t>
            </a:r>
            <a:r>
              <a:rPr lang="en-IN" sz="1600" i="1">
                <a:latin typeface="Times New Roman"/>
                <a:ea typeface="+mn-lt"/>
                <a:cs typeface="+mn-lt"/>
              </a:rPr>
              <a:t>Journal of Nanomaterials</a:t>
            </a:r>
            <a:r>
              <a:rPr lang="en-IN" sz="1600">
                <a:latin typeface="Times New Roman"/>
                <a:ea typeface="+mn-lt"/>
                <a:cs typeface="+mn-lt"/>
              </a:rPr>
              <a:t>, Article ID 8457921, Jul. 2022.</a:t>
            </a:r>
          </a:p>
          <a:p>
            <a:pPr algn="just"/>
            <a:endParaRPr lang="en-IN" sz="1600">
              <a:latin typeface="Times New Roman"/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IN" sz="1600">
                <a:latin typeface="Times New Roman"/>
                <a:ea typeface="+mn-lt"/>
                <a:cs typeface="+mn-lt"/>
              </a:rPr>
              <a:t>[3] J.-Y. Chou, Y. Fu, S.-K. Huang, and C.-M. Chang, “SHM data anomaly classification using machine learning strategies,” </a:t>
            </a:r>
            <a:r>
              <a:rPr lang="en-IN" sz="1600" i="1">
                <a:latin typeface="Times New Roman"/>
                <a:ea typeface="+mn-lt"/>
                <a:cs typeface="+mn-lt"/>
              </a:rPr>
              <a:t>Structural Control and Health Monitoring</a:t>
            </a:r>
            <a:r>
              <a:rPr lang="en-IN" sz="1600">
                <a:latin typeface="Times New Roman"/>
                <a:ea typeface="+mn-lt"/>
                <a:cs typeface="+mn-lt"/>
              </a:rPr>
              <a:t>, vol. 28, no. 8, e2769, Aug. 2021.</a:t>
            </a:r>
          </a:p>
          <a:p>
            <a:pPr algn="just"/>
            <a:endParaRPr lang="en-IN" sz="1600">
              <a:latin typeface="Times New Roman"/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IN" sz="1600">
                <a:latin typeface="Times New Roman"/>
                <a:ea typeface="+mn-lt"/>
                <a:cs typeface="+mn-lt"/>
              </a:rPr>
              <a:t>[4] R. Min, Z. Liu, L. Pereira, C. Yang, Q. Sui, and C. Marques, “Optical </a:t>
            </a:r>
            <a:r>
              <a:rPr lang="en-IN" sz="1600" err="1">
                <a:latin typeface="Times New Roman"/>
                <a:ea typeface="+mn-lt"/>
                <a:cs typeface="+mn-lt"/>
              </a:rPr>
              <a:t>fiber</a:t>
            </a:r>
            <a:r>
              <a:rPr lang="en-IN" sz="1600">
                <a:latin typeface="Times New Roman"/>
                <a:ea typeface="+mn-lt"/>
                <a:cs typeface="+mn-lt"/>
              </a:rPr>
              <a:t> sensing for marine environment and marine structural health monitoring: A review,” </a:t>
            </a:r>
            <a:r>
              <a:rPr lang="en-IN" sz="1600" i="1">
                <a:latin typeface="Times New Roman"/>
                <a:ea typeface="+mn-lt"/>
                <a:cs typeface="+mn-lt"/>
              </a:rPr>
              <a:t>Sensors</a:t>
            </a:r>
            <a:r>
              <a:rPr lang="en-IN" sz="1600">
                <a:latin typeface="Times New Roman"/>
                <a:ea typeface="+mn-lt"/>
                <a:cs typeface="+mn-lt"/>
              </a:rPr>
              <a:t>, vol. 21, no. 4, pp. 1–28, 2021.</a:t>
            </a:r>
          </a:p>
          <a:p>
            <a:pPr algn="just"/>
            <a:endParaRPr lang="en-IN" sz="1600">
              <a:latin typeface="Times New Roman"/>
              <a:ea typeface="+mn-lt"/>
              <a:cs typeface="Calibri" panose="020F0502020204030204"/>
            </a:endParaRPr>
          </a:p>
          <a:p>
            <a:pPr algn="just"/>
            <a:r>
              <a:rPr lang="en-IN" sz="1600">
                <a:latin typeface="Times New Roman"/>
                <a:ea typeface="+mn-lt"/>
                <a:cs typeface="+mn-lt"/>
              </a:rPr>
              <a:t>[5] C. R. Farrar and K. Worden, </a:t>
            </a:r>
            <a:r>
              <a:rPr lang="en-IN" sz="1600" i="1">
                <a:latin typeface="Times New Roman"/>
                <a:ea typeface="+mn-lt"/>
                <a:cs typeface="+mn-lt"/>
              </a:rPr>
              <a:t>Structural Health Monitoring: A Machine Learning Perspective</a:t>
            </a:r>
            <a:r>
              <a:rPr lang="en-IN" sz="1600">
                <a:latin typeface="Times New Roman"/>
                <a:ea typeface="+mn-lt"/>
                <a:cs typeface="+mn-lt"/>
              </a:rPr>
              <a:t>. Chichester, U.K.: Wiley, 2012.</a:t>
            </a:r>
          </a:p>
          <a:p>
            <a:pPr algn="just"/>
            <a:endParaRPr lang="en-IN" sz="1600">
              <a:latin typeface="Times New Roman"/>
              <a:ea typeface="Calibri" panose="020F0502020204030204"/>
              <a:cs typeface="Calibri" panose="020F0502020204030204"/>
            </a:endParaRPr>
          </a:p>
          <a:p>
            <a:pPr algn="just"/>
            <a:endParaRPr lang="en-IN" sz="160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endParaRPr lang="en-IN" sz="1700">
              <a:ea typeface="Calibri"/>
              <a:cs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7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6461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7B5B58-C1AE-810B-81DA-E9738EB7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B0A878-5DDD-483A-6E66-ECCF6613346B}"/>
              </a:ext>
            </a:extLst>
          </p:cNvPr>
          <p:cNvSpPr txBox="1"/>
          <p:nvPr/>
        </p:nvSpPr>
        <p:spPr>
          <a:xfrm>
            <a:off x="202964" y="907990"/>
            <a:ext cx="8738073" cy="59400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IN" sz="1600">
              <a:latin typeface="Times New Roman"/>
              <a:cs typeface="Times New Roman"/>
            </a:endParaRPr>
          </a:p>
          <a:p>
            <a:pPr algn="just"/>
            <a:r>
              <a:rPr lang="en-IN" sz="1600">
                <a:latin typeface="Times New Roman"/>
                <a:cs typeface="Times New Roman"/>
              </a:rPr>
              <a:t>[6]H. </a:t>
            </a:r>
            <a:r>
              <a:rPr lang="en-IN" sz="1600" err="1">
                <a:latin typeface="Times New Roman"/>
                <a:cs typeface="Times New Roman"/>
              </a:rPr>
              <a:t>Sarmadi</a:t>
            </a:r>
            <a:r>
              <a:rPr lang="en-IN" sz="1600">
                <a:latin typeface="Times New Roman"/>
                <a:cs typeface="Times New Roman"/>
              </a:rPr>
              <a:t>, A. Entezami, and M. Salar, “Bridge health monitoring under environmental variability using clustering and adaptive threshold estimation,” Mechanical Systems and Signal Processing, vol. 148, Art. no. 107144, 2021.</a:t>
            </a:r>
          </a:p>
          <a:p>
            <a:pPr algn="just"/>
            <a:endParaRPr lang="en-IN" sz="1600">
              <a:latin typeface="Times New Roman"/>
              <a:cs typeface="Times New Roman"/>
            </a:endParaRPr>
          </a:p>
          <a:p>
            <a:pPr algn="just"/>
            <a:r>
              <a:rPr lang="en-IN" sz="1600">
                <a:latin typeface="Times New Roman"/>
                <a:cs typeface="Times New Roman"/>
              </a:rPr>
              <a:t>[7] A. D. Kersey, M. A. Davis, H. J. Patrick, et al., “Fiber grating sensors,” Journal </a:t>
            </a:r>
            <a:r>
              <a:rPr lang="en-IN" sz="1600" err="1">
                <a:latin typeface="Times New Roman"/>
                <a:cs typeface="Times New Roman"/>
              </a:rPr>
              <a:t>ofLightwave</a:t>
            </a:r>
            <a:r>
              <a:rPr lang="en-IN" sz="1600">
                <a:latin typeface="Times New Roman"/>
                <a:cs typeface="Times New Roman"/>
              </a:rPr>
              <a:t> Technology, vol. 15, no. 8, pp. 1442–1463, Aug. 1997.</a:t>
            </a:r>
            <a:endParaRPr lang="en-US" sz="1600">
              <a:latin typeface="Times New Roman"/>
              <a:cs typeface="Times New Roman"/>
            </a:endParaRPr>
          </a:p>
          <a:p>
            <a:pPr algn="just"/>
            <a:endParaRPr lang="en-IN" sz="1600">
              <a:latin typeface="Times New Roman"/>
              <a:cs typeface="Times New Roman"/>
            </a:endParaRPr>
          </a:p>
          <a:p>
            <a:pPr algn="just"/>
            <a:r>
              <a:rPr lang="en-US" sz="1600">
                <a:latin typeface="Times New Roman"/>
                <a:cs typeface="Times New Roman"/>
              </a:rPr>
              <a:t>[8] Y. Li, Z. Zhou, J. Ou, and J. Zhou, “Temperature compensation of FBG strain sensors using dual-grating technique,” Optics and Lasers in Engineering, vol. 46, no. 7, pp. 473–478, 2008.</a:t>
            </a:r>
          </a:p>
          <a:p>
            <a:pPr algn="just"/>
            <a:endParaRPr lang="en-US" sz="1600">
              <a:latin typeface="Times New Roman"/>
              <a:cs typeface="Times New Roman"/>
            </a:endParaRPr>
          </a:p>
          <a:p>
            <a:pPr algn="just"/>
            <a:r>
              <a:rPr lang="en-US" sz="1600">
                <a:latin typeface="Times New Roman"/>
                <a:cs typeface="Times New Roman"/>
              </a:rPr>
              <a:t>[9] M. </a:t>
            </a:r>
            <a:r>
              <a:rPr lang="en-US" sz="1600" err="1">
                <a:latin typeface="Times New Roman"/>
                <a:cs typeface="Times New Roman"/>
              </a:rPr>
              <a:t>Raissi</a:t>
            </a:r>
            <a:r>
              <a:rPr lang="en-US" sz="1600">
                <a:latin typeface="Times New Roman"/>
                <a:cs typeface="Times New Roman"/>
              </a:rPr>
              <a:t>, P. </a:t>
            </a:r>
            <a:r>
              <a:rPr lang="en-US" sz="1600" err="1">
                <a:latin typeface="Times New Roman"/>
                <a:cs typeface="Times New Roman"/>
              </a:rPr>
              <a:t>Perdikaris</a:t>
            </a:r>
            <a:r>
              <a:rPr lang="en-US" sz="1600">
                <a:latin typeface="Times New Roman"/>
                <a:cs typeface="Times New Roman"/>
              </a:rPr>
              <a:t>, and G. E. </a:t>
            </a:r>
            <a:r>
              <a:rPr lang="en-US" sz="1600" err="1">
                <a:latin typeface="Times New Roman"/>
                <a:cs typeface="Times New Roman"/>
              </a:rPr>
              <a:t>Karniadakis</a:t>
            </a:r>
            <a:r>
              <a:rPr lang="en-US" sz="1600">
                <a:latin typeface="Times New Roman"/>
                <a:cs typeface="Times New Roman"/>
              </a:rPr>
              <a:t>, “Physics-informed neural networks: A deep learning framework for solving forward and inverse problems,” Journal of Computational Physics, vol. 378, pp. 686–707, 2019.</a:t>
            </a:r>
          </a:p>
          <a:p>
            <a:pPr algn="just"/>
            <a:endParaRPr lang="en-US" sz="1600">
              <a:latin typeface="Times New Roman"/>
              <a:cs typeface="Times New Roman"/>
            </a:endParaRPr>
          </a:p>
          <a:p>
            <a:pPr algn="just"/>
            <a:r>
              <a:rPr lang="en-US" sz="1600">
                <a:latin typeface="Times New Roman"/>
                <a:cs typeface="Times New Roman"/>
              </a:rPr>
              <a:t>[10] K. Worden, E. J. Cross, and C. R. Farrar, “A Bayesian perspective on structural health monitoring,” Philosophical Transactions of the Royal Society A, vol. 378, no. 2168, 2020.</a:t>
            </a:r>
          </a:p>
          <a:p>
            <a:pPr algn="just"/>
            <a:endParaRPr lang="en-US" sz="1600">
              <a:latin typeface="Times New Roman"/>
              <a:cs typeface="Times New Roman"/>
            </a:endParaRPr>
          </a:p>
          <a:p>
            <a:pPr algn="just"/>
            <a:r>
              <a:rPr lang="en-US" sz="1600">
                <a:latin typeface="Times New Roman"/>
                <a:cs typeface="Times New Roman"/>
              </a:rPr>
              <a:t>[11] H. Sohn, C. R. Farrar, F. M. Hemez, et al., “A review of structural health monitoring literature: Statistical pattern recognition,” Los Alamos Nat. Lab., Los Alamos, NM, USA, Rep. LA-13976-MS, 2004.</a:t>
            </a:r>
          </a:p>
          <a:p>
            <a:pPr algn="just"/>
            <a:endParaRPr lang="en-US" sz="1600">
              <a:latin typeface="Times New Roman"/>
              <a:cs typeface="Times New Roman"/>
            </a:endParaRPr>
          </a:p>
          <a:p>
            <a:pPr algn="just"/>
            <a:endParaRPr lang="en-US" sz="1600">
              <a:latin typeface="Times New Roman"/>
              <a:cs typeface="Times New Roman"/>
            </a:endParaRPr>
          </a:p>
          <a:p>
            <a:pPr algn="just"/>
            <a:endParaRPr lang="en-US" sz="1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3034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E151BF-18BD-BC09-6A69-644F8DE7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69FF-A95B-4CED-B2F5-060587381DD8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D2B1AC-CA7E-595D-F096-C8531ACB7C36}"/>
              </a:ext>
            </a:extLst>
          </p:cNvPr>
          <p:cNvSpPr txBox="1"/>
          <p:nvPr/>
        </p:nvSpPr>
        <p:spPr>
          <a:xfrm>
            <a:off x="858416" y="2556587"/>
            <a:ext cx="71157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1729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2074</Words>
  <Application>Microsoft Office PowerPoint</Application>
  <PresentationFormat>On-screen Show (4:3)</PresentationFormat>
  <Paragraphs>254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Constantia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SURYANSH TIWARI (RA2211004010224)</cp:lastModifiedBy>
  <cp:revision>3</cp:revision>
  <dcterms:created xsi:type="dcterms:W3CDTF">2025-11-06T10:03:11Z</dcterms:created>
  <dcterms:modified xsi:type="dcterms:W3CDTF">2025-12-18T15:23:22Z</dcterms:modified>
</cp:coreProperties>
</file>